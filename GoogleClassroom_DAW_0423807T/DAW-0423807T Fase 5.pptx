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Roboto ExtraBold"/>
      <p:bold r:id="rId10"/>
      <p:boldItalic r:id="rId11"/>
    </p:embeddedFont>
    <p:embeddedFont>
      <p:font typeface="Roboto"/>
      <p:regular r:id="rId12"/>
      <p:bold r:id="rId13"/>
      <p:italic r:id="rId14"/>
      <p:boldItalic r:id="rId15"/>
    </p:embeddedFont>
    <p:embeddedFont>
      <p:font typeface="Roboto Medium"/>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ExtraBold-boldItalic.fntdata"/><Relationship Id="rId10" Type="http://schemas.openxmlformats.org/officeDocument/2006/relationships/font" Target="fonts/RobotoExtraBold-bold.fntdata"/><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RobotoMedium-bold.fntdata"/><Relationship Id="rId16" Type="http://schemas.openxmlformats.org/officeDocument/2006/relationships/font" Target="fonts/RobotoMedium-regular.fntdata"/><Relationship Id="rId5" Type="http://schemas.openxmlformats.org/officeDocument/2006/relationships/notesMaster" Target="notesMasters/notesMaster1.xml"/><Relationship Id="rId19" Type="http://schemas.openxmlformats.org/officeDocument/2006/relationships/font" Target="fonts/RobotoMedium-boldItalic.fntdata"/><Relationship Id="rId6" Type="http://schemas.openxmlformats.org/officeDocument/2006/relationships/slide" Target="slides/slide1.xml"/><Relationship Id="rId18" Type="http://schemas.openxmlformats.org/officeDocument/2006/relationships/font" Target="fonts/RobotoMedium-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SLIDES_API136995892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SLIDES_API13699589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Bienvenidos a la quinta y última fase de nuestro Proyecto Integrador. En esta etapa cumbre, dejaremos de lado la codificación local para enfocarnos en cómo llevar nuestra aplicación al mundo real. Hablaremos de cultura DevOps, cómo empaquetar nuestra solución de Gestión de Inventario usando Docker, cómo orquestar nuestros microservicios y, finalmente, cómo garantizar la calidad continua antes de nuestra sustentación técnica ante el jurado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8df59ac87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8df59ac87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Para empezar, hablemos de la contenerización. En entornos corporativos de ingeniería, no podemos permitirnos la excusa de 'en mi máquina sí funciona'. Para evitar esto, utilizamos Docker aplicando el patrón </a:t>
            </a:r>
            <a:r>
              <a:rPr i="1" lang="en">
                <a:solidFill>
                  <a:schemeClr val="dk1"/>
                </a:solidFill>
              </a:rPr>
              <a:t>Multi-stage build</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¿Cómo funciona? En una primera etapa, utilizamos los SDK pesados de .NET y Node.js para compilar nuestro código. Una vez compilado, descartamos esas herramientas pesadas y pasamos únicamente los ejecutables optimizados a un entorno de producción muy ligero. El resultado es que nuestra imagen final pasa a pesar menos de 120 megabytes, alojándose en servidores ligeros y seguros como Nginx, garantizando una portabilidad absoluta en cualquier servidor</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8df59ac87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8df59ac87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Tener contenedores aislados no es suficiente; necesitamos que se comuniquen de forma segura. Aquí es donde entra el motor de Docker Compose.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Como observan en la arquitectura, orquestamos tres piezas fundamentales dentro de una red interna privada. Primero, nuestra base de datos PostgreSQL, la cual cuenta con persistencia volumétrica y una verificación de estado o </a:t>
            </a:r>
            <a:r>
              <a:rPr i="1" lang="en">
                <a:solidFill>
                  <a:schemeClr val="dk1"/>
                </a:solidFill>
              </a:rPr>
              <a:t>healthcheck</a:t>
            </a:r>
            <a:r>
              <a:rPr lang="en">
                <a:solidFill>
                  <a:schemeClr val="dk1"/>
                </a:solidFill>
              </a:rPr>
              <a:t>. Segundo, nuestra API RESTful en .NET 10, la cual está configurada para esperar a que la base de datos esté completamente saludable antes de arrancar. Y tercero, nuestro frontend SPA en React servido eficientemente por Nginx en el puerto 8080. Todo el ecosistema se levanta de forma coordinada, segura y reproducible.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8df59ac87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8df59ac87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La belleza de esta arquitectura radica en su simplicidad operativa en la etapa de despliegue. Atrás quedaron las configuraciones manuales de servidores.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Con solo tres comandos en nuestra terminal podemos operar el sistema completo: usamos </a:t>
            </a:r>
            <a:r>
              <a:rPr lang="en">
                <a:solidFill>
                  <a:srgbClr val="188038"/>
                </a:solidFill>
              </a:rPr>
              <a:t>down -v</a:t>
            </a:r>
            <a:r>
              <a:rPr lang="en">
                <a:solidFill>
                  <a:schemeClr val="dk1"/>
                </a:solidFill>
              </a:rPr>
              <a:t> para limpiar contenedores y volúmenes previos, </a:t>
            </a:r>
            <a:r>
              <a:rPr lang="en">
                <a:solidFill>
                  <a:srgbClr val="188038"/>
                </a:solidFill>
              </a:rPr>
              <a:t>up --build -d</a:t>
            </a:r>
            <a:r>
              <a:rPr lang="en">
                <a:solidFill>
                  <a:schemeClr val="dk1"/>
                </a:solidFill>
              </a:rPr>
              <a:t> para compilar las imágenes frescas y levantar la red en segundo plano, y </a:t>
            </a:r>
            <a:r>
              <a:rPr lang="en">
                <a:solidFill>
                  <a:srgbClr val="188038"/>
                </a:solidFill>
              </a:rPr>
              <a:t>docker ps</a:t>
            </a:r>
            <a:r>
              <a:rPr lang="en">
                <a:solidFill>
                  <a:schemeClr val="dk1"/>
                </a:solidFill>
              </a:rPr>
              <a:t> para verificar que nuestros tres servicios estén en estado saludable. Pasemos ahora a la consola para ejecutar la demostración en vivo (Live Demo) de la plataforma operativa.</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a3c2165d9_32_0)">
  <p:cSld name="Generated (g3fa3c2165d9_32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736"/>
        </a:solidFill>
      </p:bgPr>
    </p:bg>
    <p:spTree>
      <p:nvGrpSpPr>
        <p:cNvPr id="54" name="Shape 54"/>
        <p:cNvGrpSpPr/>
        <p:nvPr/>
      </p:nvGrpSpPr>
      <p:grpSpPr>
        <a:xfrm>
          <a:off x="0" y="0"/>
          <a:ext cx="0" cy="0"/>
          <a:chOff x="0" y="0"/>
          <a:chExt cx="0" cy="0"/>
        </a:xfrm>
      </p:grpSpPr>
      <p:sp>
        <p:nvSpPr>
          <p:cNvPr id="55" name="Google Shape;55;p14"/>
          <p:cNvSpPr/>
          <p:nvPr/>
        </p:nvSpPr>
        <p:spPr>
          <a:xfrm>
            <a:off x="7874000" y="-635000"/>
            <a:ext cx="2286000" cy="2286000"/>
          </a:xfrm>
          <a:prstGeom prst="ellipse">
            <a:avLst/>
          </a:prstGeom>
          <a:solidFill>
            <a:srgbClr val="B588EC">
              <a:alpha val="1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4"/>
          <p:cNvSpPr/>
          <p:nvPr/>
        </p:nvSpPr>
        <p:spPr>
          <a:xfrm>
            <a:off x="-508000" y="3556000"/>
            <a:ext cx="2540100" cy="2540100"/>
          </a:xfrm>
          <a:prstGeom prst="ellipse">
            <a:avLst/>
          </a:prstGeom>
          <a:solidFill>
            <a:srgbClr val="A5DAF0">
              <a:alpha val="12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4"/>
          <p:cNvSpPr/>
          <p:nvPr/>
        </p:nvSpPr>
        <p:spPr>
          <a:xfrm>
            <a:off x="758300" y="159925"/>
            <a:ext cx="3203700" cy="775500"/>
          </a:xfrm>
          <a:prstGeom prst="roundRect">
            <a:avLst>
              <a:gd fmla="val 16667" name="adj"/>
            </a:avLst>
          </a:prstGeom>
          <a:solidFill>
            <a:srgbClr val="152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rgbClr val="A5DAF0"/>
                </a:solidFill>
                <a:latin typeface="Roboto"/>
                <a:ea typeface="Roboto"/>
                <a:cs typeface="Roboto"/>
                <a:sym typeface="Roboto"/>
              </a:rPr>
              <a:t>UNIVERSIDAD NACIONAL EXPERIMENTAL DEL TÁCHIRA</a:t>
            </a:r>
            <a:endParaRPr b="1" sz="800">
              <a:solidFill>
                <a:srgbClr val="A5DAF0"/>
              </a:solidFill>
              <a:latin typeface="Roboto"/>
              <a:ea typeface="Roboto"/>
              <a:cs typeface="Roboto"/>
              <a:sym typeface="Roboto"/>
            </a:endParaRPr>
          </a:p>
          <a:p>
            <a:pPr indent="0" lvl="0" marL="0" rtl="0" algn="l">
              <a:spcBef>
                <a:spcPts val="0"/>
              </a:spcBef>
              <a:spcAft>
                <a:spcPts val="0"/>
              </a:spcAft>
              <a:buNone/>
            </a:pPr>
            <a:r>
              <a:rPr b="1" lang="en" sz="800">
                <a:solidFill>
                  <a:srgbClr val="A5DAF0"/>
                </a:solidFill>
                <a:latin typeface="Roboto"/>
                <a:ea typeface="Roboto"/>
                <a:cs typeface="Roboto"/>
                <a:sym typeface="Roboto"/>
              </a:rPr>
              <a:t>DECANATO DE DOCENCIA</a:t>
            </a:r>
            <a:endParaRPr b="1" sz="800">
              <a:solidFill>
                <a:srgbClr val="A5DAF0"/>
              </a:solidFill>
              <a:latin typeface="Roboto"/>
              <a:ea typeface="Roboto"/>
              <a:cs typeface="Roboto"/>
              <a:sym typeface="Roboto"/>
            </a:endParaRPr>
          </a:p>
          <a:p>
            <a:pPr indent="0" lvl="0" marL="0" rtl="0" algn="l">
              <a:spcBef>
                <a:spcPts val="0"/>
              </a:spcBef>
              <a:spcAft>
                <a:spcPts val="0"/>
              </a:spcAft>
              <a:buNone/>
            </a:pPr>
            <a:r>
              <a:rPr b="1" lang="en" sz="800">
                <a:solidFill>
                  <a:srgbClr val="A5DAF0"/>
                </a:solidFill>
                <a:latin typeface="Roboto"/>
                <a:ea typeface="Roboto"/>
                <a:cs typeface="Roboto"/>
                <a:sym typeface="Roboto"/>
              </a:rPr>
              <a:t>DEPARTAMENTO DE INGENIERÍA INFORMÁTICA</a:t>
            </a:r>
            <a:endParaRPr b="1" sz="800">
              <a:solidFill>
                <a:srgbClr val="A5DAF0"/>
              </a:solidFill>
              <a:latin typeface="Roboto"/>
              <a:ea typeface="Roboto"/>
              <a:cs typeface="Roboto"/>
              <a:sym typeface="Roboto"/>
            </a:endParaRPr>
          </a:p>
          <a:p>
            <a:pPr indent="0" lvl="0" marL="0" rtl="0" algn="l">
              <a:spcBef>
                <a:spcPts val="0"/>
              </a:spcBef>
              <a:spcAft>
                <a:spcPts val="0"/>
              </a:spcAft>
              <a:buNone/>
            </a:pPr>
            <a:r>
              <a:rPr b="1" lang="en" sz="800">
                <a:solidFill>
                  <a:srgbClr val="A5DAF0"/>
                </a:solidFill>
                <a:latin typeface="Roboto"/>
                <a:ea typeface="Roboto"/>
                <a:cs typeface="Roboto"/>
                <a:sym typeface="Roboto"/>
              </a:rPr>
              <a:t>Asignatura: Desarrollo de Aplicaciones Web Código: 0423807T </a:t>
            </a:r>
            <a:endParaRPr b="1" sz="800">
              <a:solidFill>
                <a:srgbClr val="A5DAF0"/>
              </a:solidFill>
              <a:latin typeface="Roboto"/>
              <a:ea typeface="Roboto"/>
              <a:cs typeface="Roboto"/>
              <a:sym typeface="Roboto"/>
            </a:endParaRPr>
          </a:p>
          <a:p>
            <a:pPr indent="0" lvl="0" marL="0" rtl="0" algn="ctr">
              <a:spcBef>
                <a:spcPts val="0"/>
              </a:spcBef>
              <a:spcAft>
                <a:spcPts val="0"/>
              </a:spcAft>
              <a:buNone/>
            </a:pPr>
            <a:r>
              <a:t/>
            </a:r>
            <a:endParaRPr b="1" sz="800">
              <a:solidFill>
                <a:srgbClr val="A5DAF0"/>
              </a:solidFill>
              <a:latin typeface="Roboto"/>
              <a:ea typeface="Roboto"/>
              <a:cs typeface="Roboto"/>
              <a:sym typeface="Roboto"/>
            </a:endParaRPr>
          </a:p>
        </p:txBody>
      </p:sp>
      <p:sp>
        <p:nvSpPr>
          <p:cNvPr id="58" name="Google Shape;58;p14"/>
          <p:cNvSpPr txBox="1"/>
          <p:nvPr/>
        </p:nvSpPr>
        <p:spPr>
          <a:xfrm>
            <a:off x="507950" y="1181100"/>
            <a:ext cx="4953000" cy="10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FFFFFF"/>
                </a:solidFill>
                <a:latin typeface="Roboto"/>
                <a:ea typeface="Roboto"/>
                <a:cs typeface="Roboto"/>
                <a:sym typeface="Roboto"/>
              </a:rPr>
              <a:t>Proyecto Integrador: Sistema de Gestión de Inventario Empresarial Fase 5</a:t>
            </a:r>
            <a:endParaRPr b="1" sz="2400">
              <a:solidFill>
                <a:srgbClr val="FFFFFF"/>
              </a:solidFill>
              <a:latin typeface="Roboto"/>
              <a:ea typeface="Roboto"/>
              <a:cs typeface="Roboto"/>
              <a:sym typeface="Roboto"/>
            </a:endParaRPr>
          </a:p>
        </p:txBody>
      </p:sp>
      <p:sp>
        <p:nvSpPr>
          <p:cNvPr id="59" name="Google Shape;59;p14"/>
          <p:cNvSpPr txBox="1"/>
          <p:nvPr/>
        </p:nvSpPr>
        <p:spPr>
          <a:xfrm>
            <a:off x="455875" y="2366250"/>
            <a:ext cx="4953000" cy="41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A5DAF0"/>
                </a:solidFill>
                <a:latin typeface="Roboto"/>
                <a:ea typeface="Roboto"/>
                <a:cs typeface="Roboto"/>
                <a:sym typeface="Roboto"/>
              </a:rPr>
              <a:t>Asignatura: Desarrollo de Aplicaciones Web (DAW-0423807T)</a:t>
            </a:r>
            <a:endParaRPr sz="1200">
              <a:solidFill>
                <a:srgbClr val="A5DAF0"/>
              </a:solidFill>
              <a:latin typeface="Roboto"/>
              <a:ea typeface="Roboto"/>
              <a:cs typeface="Roboto"/>
              <a:sym typeface="Roboto"/>
            </a:endParaRPr>
          </a:p>
        </p:txBody>
      </p:sp>
      <p:sp>
        <p:nvSpPr>
          <p:cNvPr id="60" name="Google Shape;60;p14"/>
          <p:cNvSpPr/>
          <p:nvPr/>
        </p:nvSpPr>
        <p:spPr>
          <a:xfrm>
            <a:off x="508000" y="3556000"/>
            <a:ext cx="4953000" cy="1016100"/>
          </a:xfrm>
          <a:prstGeom prst="roundRect">
            <a:avLst>
              <a:gd fmla="val 16667" name="adj"/>
            </a:avLst>
          </a:prstGeom>
          <a:solidFill>
            <a:srgbClr val="15244C"/>
          </a:solidFill>
          <a:ln cap="flat" cmpd="sng" w="15250">
            <a:solidFill>
              <a:srgbClr val="22386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4"/>
          <p:cNvSpPr txBox="1"/>
          <p:nvPr/>
        </p:nvSpPr>
        <p:spPr>
          <a:xfrm>
            <a:off x="635000" y="3581600"/>
            <a:ext cx="4698900" cy="8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FFFF"/>
                </a:solidFill>
                <a:latin typeface="Roboto"/>
                <a:ea typeface="Roboto"/>
                <a:cs typeface="Roboto"/>
                <a:sym typeface="Roboto"/>
              </a:rPr>
              <a:t>👨‍🏫 Facilitador:</a:t>
            </a:r>
            <a:endParaRPr sz="1000">
              <a:solidFill>
                <a:srgbClr val="FFFFFF"/>
              </a:solidFill>
              <a:latin typeface="Roboto"/>
              <a:ea typeface="Roboto"/>
              <a:cs typeface="Roboto"/>
              <a:sym typeface="Roboto"/>
            </a:endParaRPr>
          </a:p>
          <a:p>
            <a:pPr indent="0" lvl="0" marL="0" rtl="0" algn="l">
              <a:spcBef>
                <a:spcPts val="0"/>
              </a:spcBef>
              <a:spcAft>
                <a:spcPts val="0"/>
              </a:spcAft>
              <a:buNone/>
            </a:pPr>
            <a:r>
              <a:rPr lang="en" sz="1000">
                <a:solidFill>
                  <a:srgbClr val="FFFFFF"/>
                </a:solidFill>
                <a:latin typeface="Roboto"/>
                <a:ea typeface="Roboto"/>
                <a:cs typeface="Roboto"/>
                <a:sym typeface="Roboto"/>
              </a:rPr>
              <a:t>   M.Sc. Ing. Gabriel Alexis Ramírez Sánchez (gramirezs@unet.edu.ve)</a:t>
            </a:r>
            <a:endParaRPr sz="1000">
              <a:solidFill>
                <a:srgbClr val="FFFFFF"/>
              </a:solidFill>
              <a:latin typeface="Roboto"/>
              <a:ea typeface="Roboto"/>
              <a:cs typeface="Roboto"/>
              <a:sym typeface="Roboto"/>
            </a:endParaRPr>
          </a:p>
          <a:p>
            <a:pPr indent="0" lvl="0" marL="0" rtl="0" algn="l">
              <a:spcBef>
                <a:spcPts val="0"/>
              </a:spcBef>
              <a:spcAft>
                <a:spcPts val="0"/>
              </a:spcAft>
              <a:buNone/>
            </a:pPr>
            <a:r>
              <a:t/>
            </a:r>
            <a:endParaRPr sz="1000">
              <a:solidFill>
                <a:srgbClr val="FFFFFF"/>
              </a:solidFill>
              <a:latin typeface="Roboto"/>
              <a:ea typeface="Roboto"/>
              <a:cs typeface="Roboto"/>
              <a:sym typeface="Roboto"/>
            </a:endParaRPr>
          </a:p>
          <a:p>
            <a:pPr indent="0" lvl="0" marL="0" rtl="0" algn="l">
              <a:spcBef>
                <a:spcPts val="0"/>
              </a:spcBef>
              <a:spcAft>
                <a:spcPts val="0"/>
              </a:spcAft>
              <a:buNone/>
            </a:pPr>
            <a:r>
              <a:rPr lang="en" sz="1000">
                <a:solidFill>
                  <a:srgbClr val="FFFFFF"/>
                </a:solidFill>
                <a:latin typeface="Roboto"/>
                <a:ea typeface="Roboto"/>
                <a:cs typeface="Roboto"/>
                <a:sym typeface="Roboto"/>
              </a:rPr>
              <a:t>📍 San Cristóbal, Táchira • Septiembre 2026</a:t>
            </a:r>
            <a:endParaRPr sz="1000">
              <a:solidFill>
                <a:srgbClr val="FFFFFF"/>
              </a:solidFill>
              <a:latin typeface="Roboto"/>
              <a:ea typeface="Roboto"/>
              <a:cs typeface="Roboto"/>
              <a:sym typeface="Roboto"/>
            </a:endParaRPr>
          </a:p>
        </p:txBody>
      </p:sp>
      <p:sp>
        <p:nvSpPr>
          <p:cNvPr id="62" name="Google Shape;62;p14"/>
          <p:cNvSpPr/>
          <p:nvPr/>
        </p:nvSpPr>
        <p:spPr>
          <a:xfrm>
            <a:off x="5969000" y="1079500"/>
            <a:ext cx="2476500" cy="1714500"/>
          </a:xfrm>
          <a:prstGeom prst="roundRect">
            <a:avLst>
              <a:gd fmla="val 16667" name="adj"/>
            </a:avLst>
          </a:prstGeom>
          <a:solidFill>
            <a:srgbClr val="1F2937"/>
          </a:solidFill>
          <a:ln cap="flat" cmpd="sng" w="19050">
            <a:solidFill>
              <a:srgbClr val="A5DA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p:nvPr/>
        </p:nvSpPr>
        <p:spPr>
          <a:xfrm>
            <a:off x="6070600" y="1181100"/>
            <a:ext cx="2273400" cy="1460400"/>
          </a:xfrm>
          <a:prstGeom prst="rect">
            <a:avLst/>
          </a:prstGeom>
          <a:solidFill>
            <a:srgbClr val="0A112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txBox="1"/>
          <p:nvPr/>
        </p:nvSpPr>
        <p:spPr>
          <a:xfrm>
            <a:off x="6121400" y="1270000"/>
            <a:ext cx="2171700" cy="13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A5DAF0"/>
                </a:solidFill>
                <a:latin typeface="Courier New"/>
                <a:ea typeface="Courier New"/>
                <a:cs typeface="Courier New"/>
                <a:sym typeface="Courier New"/>
              </a:rPr>
              <a:t>const App = () =&gt; {</a:t>
            </a:r>
            <a:endParaRPr sz="800">
              <a:solidFill>
                <a:srgbClr val="A5DAF0"/>
              </a:solidFill>
              <a:latin typeface="Courier New"/>
              <a:ea typeface="Courier New"/>
              <a:cs typeface="Courier New"/>
              <a:sym typeface="Courier New"/>
            </a:endParaRPr>
          </a:p>
          <a:p>
            <a:pPr indent="0" lvl="0" marL="0" rtl="0" algn="l">
              <a:spcBef>
                <a:spcPts val="0"/>
              </a:spcBef>
              <a:spcAft>
                <a:spcPts val="0"/>
              </a:spcAft>
              <a:buNone/>
            </a:pPr>
            <a:r>
              <a:rPr lang="en" sz="800">
                <a:solidFill>
                  <a:srgbClr val="A5DAF0"/>
                </a:solidFill>
                <a:latin typeface="Courier New"/>
                <a:ea typeface="Courier New"/>
                <a:cs typeface="Courier New"/>
                <a:sym typeface="Courier New"/>
              </a:rPr>
              <a:t>  return &lt;UNET_DAW /&gt;;</a:t>
            </a:r>
            <a:endParaRPr sz="800">
              <a:solidFill>
                <a:srgbClr val="A5DAF0"/>
              </a:solidFill>
              <a:latin typeface="Courier New"/>
              <a:ea typeface="Courier New"/>
              <a:cs typeface="Courier New"/>
              <a:sym typeface="Courier New"/>
            </a:endParaRPr>
          </a:p>
          <a:p>
            <a:pPr indent="0" lvl="0" marL="0" rtl="0" algn="l">
              <a:spcBef>
                <a:spcPts val="0"/>
              </a:spcBef>
              <a:spcAft>
                <a:spcPts val="0"/>
              </a:spcAft>
              <a:buNone/>
            </a:pPr>
            <a:r>
              <a:rPr lang="en" sz="800">
                <a:solidFill>
                  <a:srgbClr val="A5DAF0"/>
                </a:solidFill>
                <a:latin typeface="Courier New"/>
                <a:ea typeface="Courier New"/>
                <a:cs typeface="Courier New"/>
                <a:sym typeface="Courier New"/>
              </a:rPr>
              <a:t>};</a:t>
            </a:r>
            <a:endParaRPr sz="800">
              <a:solidFill>
                <a:srgbClr val="A5DAF0"/>
              </a:solidFill>
              <a:latin typeface="Courier New"/>
              <a:ea typeface="Courier New"/>
              <a:cs typeface="Courier New"/>
              <a:sym typeface="Courier New"/>
            </a:endParaRPr>
          </a:p>
        </p:txBody>
      </p:sp>
      <p:sp>
        <p:nvSpPr>
          <p:cNvPr id="65" name="Google Shape;65;p14"/>
          <p:cNvSpPr/>
          <p:nvPr/>
        </p:nvSpPr>
        <p:spPr>
          <a:xfrm>
            <a:off x="5715000" y="2832100"/>
            <a:ext cx="2984400" cy="203100"/>
          </a:xfrm>
          <a:prstGeom prst="roundRect">
            <a:avLst>
              <a:gd fmla="val 16667" name="adj"/>
            </a:avLst>
          </a:prstGeom>
          <a:solidFill>
            <a:srgbClr val="37415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p:nvPr/>
        </p:nvSpPr>
        <p:spPr>
          <a:xfrm>
            <a:off x="6889750" y="2882900"/>
            <a:ext cx="635100" cy="76200"/>
          </a:xfrm>
          <a:prstGeom prst="roundRect">
            <a:avLst>
              <a:gd fmla="val 16667" name="adj"/>
            </a:avLst>
          </a:prstGeom>
          <a:solidFill>
            <a:srgbClr val="4B55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p:nvPr/>
        </p:nvSpPr>
        <p:spPr>
          <a:xfrm>
            <a:off x="5842000" y="3302000"/>
            <a:ext cx="1333500" cy="1206600"/>
          </a:xfrm>
          <a:prstGeom prst="roundRect">
            <a:avLst>
              <a:gd fmla="val 16667" name="adj"/>
            </a:avLst>
          </a:prstGeom>
          <a:solidFill>
            <a:srgbClr val="15244C"/>
          </a:solidFill>
          <a:ln cap="flat" cmpd="sng" w="15250">
            <a:solidFill>
              <a:srgbClr val="A5DA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txBox="1"/>
          <p:nvPr/>
        </p:nvSpPr>
        <p:spPr>
          <a:xfrm>
            <a:off x="5905500" y="3492500"/>
            <a:ext cx="1206600" cy="8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A5DAF0"/>
                </a:solidFill>
                <a:latin typeface="Roboto"/>
                <a:ea typeface="Roboto"/>
                <a:cs typeface="Roboto"/>
                <a:sym typeface="Roboto"/>
              </a:rPr>
              <a:t>100%</a:t>
            </a:r>
            <a:endParaRPr b="1" sz="1200">
              <a:solidFill>
                <a:srgbClr val="A5DAF0"/>
              </a:solidFill>
              <a:latin typeface="Roboto"/>
              <a:ea typeface="Roboto"/>
              <a:cs typeface="Roboto"/>
              <a:sym typeface="Roboto"/>
            </a:endParaRPr>
          </a:p>
          <a:p>
            <a:pPr indent="0" lvl="0" marL="0" rtl="0" algn="ctr">
              <a:spcBef>
                <a:spcPts val="0"/>
              </a:spcBef>
              <a:spcAft>
                <a:spcPts val="0"/>
              </a:spcAft>
              <a:buNone/>
            </a:pPr>
            <a:r>
              <a:rPr b="1" lang="en" sz="1200">
                <a:solidFill>
                  <a:srgbClr val="A5DAF0"/>
                </a:solidFill>
                <a:latin typeface="Roboto"/>
                <a:ea typeface="Roboto"/>
                <a:cs typeface="Roboto"/>
                <a:sym typeface="Roboto"/>
              </a:rPr>
              <a:t>Coverage</a:t>
            </a:r>
            <a:endParaRPr b="1" sz="1200">
              <a:solidFill>
                <a:srgbClr val="A5DAF0"/>
              </a:solidFill>
              <a:latin typeface="Roboto"/>
              <a:ea typeface="Roboto"/>
              <a:cs typeface="Roboto"/>
              <a:sym typeface="Roboto"/>
            </a:endParaRPr>
          </a:p>
          <a:p>
            <a:pPr indent="0" lvl="0" marL="0" rtl="0" algn="ctr">
              <a:spcBef>
                <a:spcPts val="0"/>
              </a:spcBef>
              <a:spcAft>
                <a:spcPts val="0"/>
              </a:spcAft>
              <a:buNone/>
            </a:pPr>
            <a:r>
              <a:rPr b="1" lang="en" sz="1200">
                <a:solidFill>
                  <a:srgbClr val="A5DAF0"/>
                </a:solidFill>
                <a:latin typeface="Roboto"/>
                <a:ea typeface="Roboto"/>
                <a:cs typeface="Roboto"/>
                <a:sym typeface="Roboto"/>
              </a:rPr>
              <a:t>Unit Test</a:t>
            </a:r>
            <a:endParaRPr b="1" sz="1200">
              <a:solidFill>
                <a:srgbClr val="A5DAF0"/>
              </a:solidFill>
              <a:latin typeface="Roboto"/>
              <a:ea typeface="Roboto"/>
              <a:cs typeface="Roboto"/>
              <a:sym typeface="Roboto"/>
            </a:endParaRPr>
          </a:p>
        </p:txBody>
      </p:sp>
      <p:sp>
        <p:nvSpPr>
          <p:cNvPr id="69" name="Google Shape;69;p14"/>
          <p:cNvSpPr/>
          <p:nvPr/>
        </p:nvSpPr>
        <p:spPr>
          <a:xfrm>
            <a:off x="7366000" y="3302000"/>
            <a:ext cx="1333500" cy="1206600"/>
          </a:xfrm>
          <a:prstGeom prst="roundRect">
            <a:avLst>
              <a:gd fmla="val 16667" name="adj"/>
            </a:avLst>
          </a:prstGeom>
          <a:solidFill>
            <a:srgbClr val="15244C"/>
          </a:solidFill>
          <a:ln cap="flat" cmpd="sng" w="15250">
            <a:solidFill>
              <a:srgbClr val="B588E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4"/>
          <p:cNvSpPr txBox="1"/>
          <p:nvPr/>
        </p:nvSpPr>
        <p:spPr>
          <a:xfrm>
            <a:off x="7429500" y="3492500"/>
            <a:ext cx="1206600" cy="8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B588EC"/>
                </a:solidFill>
                <a:latin typeface="Roboto"/>
                <a:ea typeface="Roboto"/>
                <a:cs typeface="Roboto"/>
                <a:sym typeface="Roboto"/>
              </a:rPr>
              <a:t>Docker</a:t>
            </a:r>
            <a:endParaRPr b="1" sz="1200">
              <a:solidFill>
                <a:srgbClr val="B588EC"/>
              </a:solidFill>
              <a:latin typeface="Roboto"/>
              <a:ea typeface="Roboto"/>
              <a:cs typeface="Roboto"/>
              <a:sym typeface="Roboto"/>
            </a:endParaRPr>
          </a:p>
          <a:p>
            <a:pPr indent="0" lvl="0" marL="0" rtl="0" algn="ctr">
              <a:spcBef>
                <a:spcPts val="0"/>
              </a:spcBef>
              <a:spcAft>
                <a:spcPts val="0"/>
              </a:spcAft>
              <a:buNone/>
            </a:pPr>
            <a:r>
              <a:rPr b="1" lang="en" sz="1200">
                <a:solidFill>
                  <a:srgbClr val="B588EC"/>
                </a:solidFill>
                <a:latin typeface="Roboto"/>
                <a:ea typeface="Roboto"/>
                <a:cs typeface="Roboto"/>
                <a:sym typeface="Roboto"/>
              </a:rPr>
              <a:t>Production</a:t>
            </a:r>
            <a:endParaRPr b="1" sz="1200">
              <a:solidFill>
                <a:srgbClr val="B588EC"/>
              </a:solidFill>
              <a:latin typeface="Roboto"/>
              <a:ea typeface="Roboto"/>
              <a:cs typeface="Roboto"/>
              <a:sym typeface="Roboto"/>
            </a:endParaRPr>
          </a:p>
          <a:p>
            <a:pPr indent="0" lvl="0" marL="0" rtl="0" algn="ctr">
              <a:spcBef>
                <a:spcPts val="0"/>
              </a:spcBef>
              <a:spcAft>
                <a:spcPts val="0"/>
              </a:spcAft>
              <a:buNone/>
            </a:pPr>
            <a:r>
              <a:rPr b="1" lang="en" sz="1200">
                <a:solidFill>
                  <a:srgbClr val="B588EC"/>
                </a:solidFill>
                <a:latin typeface="Roboto"/>
                <a:ea typeface="Roboto"/>
                <a:cs typeface="Roboto"/>
                <a:sym typeface="Roboto"/>
              </a:rPr>
              <a:t>Ready</a:t>
            </a:r>
            <a:endParaRPr b="1" sz="1200">
              <a:solidFill>
                <a:srgbClr val="B588EC"/>
              </a:solidFill>
              <a:latin typeface="Roboto"/>
              <a:ea typeface="Roboto"/>
              <a:cs typeface="Roboto"/>
              <a:sym typeface="Roboto"/>
            </a:endParaRPr>
          </a:p>
        </p:txBody>
      </p:sp>
      <p:pic>
        <p:nvPicPr>
          <p:cNvPr id="71" name="Google Shape;71;p14" title="unet-logo-dark.png"/>
          <p:cNvPicPr preferRelativeResize="0"/>
          <p:nvPr/>
        </p:nvPicPr>
        <p:blipFill>
          <a:blip r:embed="rId3">
            <a:alphaModFix/>
          </a:blip>
          <a:stretch>
            <a:fillRect/>
          </a:stretch>
        </p:blipFill>
        <p:spPr>
          <a:xfrm>
            <a:off x="167853" y="55100"/>
            <a:ext cx="585517" cy="888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E24"/>
        </a:solidFill>
      </p:bgPr>
    </p:bg>
    <p:spTree>
      <p:nvGrpSpPr>
        <p:cNvPr id="75" name="Shape 75"/>
        <p:cNvGrpSpPr/>
        <p:nvPr/>
      </p:nvGrpSpPr>
      <p:grpSpPr>
        <a:xfrm>
          <a:off x="0" y="0"/>
          <a:ext cx="0" cy="0"/>
          <a:chOff x="0" y="0"/>
          <a:chExt cx="0" cy="0"/>
        </a:xfrm>
      </p:grpSpPr>
      <p:sp>
        <p:nvSpPr>
          <p:cNvPr id="76" name="Google Shape;76;p15"/>
          <p:cNvSpPr/>
          <p:nvPr/>
        </p:nvSpPr>
        <p:spPr>
          <a:xfrm>
            <a:off x="838200" y="190500"/>
            <a:ext cx="2952900" cy="228600"/>
          </a:xfrm>
          <a:prstGeom prst="roundRect">
            <a:avLst>
              <a:gd fmla="val 50000" name="adj"/>
            </a:avLst>
          </a:prstGeom>
          <a:solidFill>
            <a:srgbClr val="15244C"/>
          </a:solidFill>
          <a:ln cap="flat" cmpd="sng" w="114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38BDF8"/>
                </a:solidFill>
                <a:latin typeface="Roboto"/>
                <a:ea typeface="Roboto"/>
                <a:cs typeface="Roboto"/>
                <a:sym typeface="Roboto"/>
              </a:rPr>
              <a:t>01. CONTENERIZACIÓN MULTI-STAGE (DOCKER)</a:t>
            </a:r>
            <a:endParaRPr b="1" sz="800">
              <a:solidFill>
                <a:srgbClr val="38BDF8"/>
              </a:solidFill>
              <a:latin typeface="Roboto"/>
              <a:ea typeface="Roboto"/>
              <a:cs typeface="Roboto"/>
              <a:sym typeface="Roboto"/>
            </a:endParaRPr>
          </a:p>
        </p:txBody>
      </p:sp>
      <p:sp>
        <p:nvSpPr>
          <p:cNvPr id="77" name="Google Shape;77;p15"/>
          <p:cNvSpPr txBox="1"/>
          <p:nvPr/>
        </p:nvSpPr>
        <p:spPr>
          <a:xfrm>
            <a:off x="838200" y="495300"/>
            <a:ext cx="7810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Flujo de Trabajo y Arquitectura Multi-Stage</a:t>
            </a:r>
            <a:endParaRPr b="1" sz="1800">
              <a:solidFill>
                <a:srgbClr val="FFFFFF"/>
              </a:solidFill>
              <a:latin typeface="Roboto"/>
              <a:ea typeface="Roboto"/>
              <a:cs typeface="Roboto"/>
              <a:sym typeface="Roboto"/>
            </a:endParaRPr>
          </a:p>
        </p:txBody>
      </p:sp>
      <p:sp>
        <p:nvSpPr>
          <p:cNvPr id="78" name="Google Shape;78;p15"/>
          <p:cNvSpPr/>
          <p:nvPr/>
        </p:nvSpPr>
        <p:spPr>
          <a:xfrm>
            <a:off x="838200" y="914400"/>
            <a:ext cx="7810500" cy="192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5"/>
          <p:cNvSpPr/>
          <p:nvPr/>
        </p:nvSpPr>
        <p:spPr>
          <a:xfrm>
            <a:off x="2400300" y="2571750"/>
            <a:ext cx="76200" cy="95400"/>
          </a:xfrm>
          <a:custGeom>
            <a:rect b="b" l="l" r="r" t="t"/>
            <a:pathLst>
              <a:path extrusionOk="0" h="120000" w="120000">
                <a:moveTo>
                  <a:pt x="0" y="60000"/>
                </a:moveTo>
                <a:lnTo>
                  <a:pt x="120000" y="60000"/>
                </a:lnTo>
                <a:lnTo>
                  <a:pt x="60000" y="0"/>
                </a:lnTo>
                <a:moveTo>
                  <a:pt x="120000" y="60000"/>
                </a:moveTo>
                <a:lnTo>
                  <a:pt x="60000" y="120000"/>
                </a:lnTo>
              </a:path>
            </a:pathLst>
          </a:custGeom>
          <a:solidFill>
            <a:srgbClr val="000000">
              <a:alpha val="0"/>
            </a:srgbClr>
          </a:solidFill>
          <a:ln cap="rnd" cmpd="sng" w="1905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5"/>
          <p:cNvSpPr/>
          <p:nvPr/>
        </p:nvSpPr>
        <p:spPr>
          <a:xfrm>
            <a:off x="4457700" y="2571750"/>
            <a:ext cx="76200" cy="95400"/>
          </a:xfrm>
          <a:custGeom>
            <a:rect b="b" l="l" r="r" t="t"/>
            <a:pathLst>
              <a:path extrusionOk="0" h="120000" w="120000">
                <a:moveTo>
                  <a:pt x="0" y="60000"/>
                </a:moveTo>
                <a:lnTo>
                  <a:pt x="120000" y="60000"/>
                </a:lnTo>
                <a:lnTo>
                  <a:pt x="60000" y="0"/>
                </a:lnTo>
                <a:moveTo>
                  <a:pt x="120000" y="60000"/>
                </a:moveTo>
                <a:lnTo>
                  <a:pt x="60000" y="120000"/>
                </a:lnTo>
              </a:path>
            </a:pathLst>
          </a:custGeom>
          <a:solidFill>
            <a:srgbClr val="000000">
              <a:alpha val="0"/>
            </a:srgbClr>
          </a:solidFill>
          <a:ln cap="rnd" cmpd="sng" w="19050">
            <a:solidFill>
              <a:srgbClr val="818C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5"/>
          <p:cNvSpPr/>
          <p:nvPr/>
        </p:nvSpPr>
        <p:spPr>
          <a:xfrm>
            <a:off x="6515100" y="2571750"/>
            <a:ext cx="76200" cy="95400"/>
          </a:xfrm>
          <a:custGeom>
            <a:rect b="b" l="l" r="r" t="t"/>
            <a:pathLst>
              <a:path extrusionOk="0" h="120000" w="120000">
                <a:moveTo>
                  <a:pt x="0" y="60000"/>
                </a:moveTo>
                <a:lnTo>
                  <a:pt x="120000" y="60000"/>
                </a:lnTo>
                <a:lnTo>
                  <a:pt x="60000" y="0"/>
                </a:lnTo>
                <a:moveTo>
                  <a:pt x="120000" y="60000"/>
                </a:moveTo>
                <a:lnTo>
                  <a:pt x="60000" y="120000"/>
                </a:lnTo>
              </a:path>
            </a:pathLst>
          </a:custGeom>
          <a:solidFill>
            <a:srgbClr val="000000">
              <a:alpha val="0"/>
            </a:srgbClr>
          </a:solidFill>
          <a:ln cap="rnd" cmpd="sng" w="19050">
            <a:solidFill>
              <a:srgbClr val="C084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2" name="Google Shape;82;p15"/>
          <p:cNvGrpSpPr/>
          <p:nvPr/>
        </p:nvGrpSpPr>
        <p:grpSpPr>
          <a:xfrm>
            <a:off x="495300" y="1066800"/>
            <a:ext cx="1828800" cy="3200400"/>
            <a:chOff x="0" y="0"/>
            <a:chExt cx="1828800" cy="3200400"/>
          </a:xfrm>
        </p:grpSpPr>
        <p:sp>
          <p:nvSpPr>
            <p:cNvPr id="83" name="Google Shape;83;p15"/>
            <p:cNvSpPr/>
            <p:nvPr/>
          </p:nvSpPr>
          <p:spPr>
            <a:xfrm>
              <a:off x="0" y="0"/>
              <a:ext cx="1828800" cy="3200400"/>
            </a:xfrm>
            <a:prstGeom prst="roundRect">
              <a:avLst>
                <a:gd fmla="val 7291" name="adj"/>
              </a:avLst>
            </a:prstGeom>
            <a:solidFill>
              <a:srgbClr val="0F172A"/>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15"/>
            <p:cNvSpPr/>
            <p:nvPr/>
          </p:nvSpPr>
          <p:spPr>
            <a:xfrm>
              <a:off x="0" y="0"/>
              <a:ext cx="18288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15"/>
            <p:cNvSpPr/>
            <p:nvPr/>
          </p:nvSpPr>
          <p:spPr>
            <a:xfrm>
              <a:off x="152400" y="171450"/>
              <a:ext cx="324000" cy="209700"/>
            </a:xfrm>
            <a:prstGeom prst="roundRect">
              <a:avLst>
                <a:gd fmla="val 27272" name="adj"/>
              </a:avLst>
            </a:prstGeom>
            <a:solidFill>
              <a:srgbClr val="0284C7">
                <a:alpha val="2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5"/>
            <p:cNvSpPr txBox="1"/>
            <p:nvPr/>
          </p:nvSpPr>
          <p:spPr>
            <a:xfrm>
              <a:off x="152400" y="171450"/>
              <a:ext cx="3240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38BDF8"/>
                  </a:solidFill>
                  <a:latin typeface="Roboto"/>
                  <a:ea typeface="Roboto"/>
                  <a:cs typeface="Roboto"/>
                  <a:sym typeface="Roboto"/>
                </a:rPr>
                <a:t>01</a:t>
              </a:r>
              <a:endParaRPr b="1" sz="800">
                <a:solidFill>
                  <a:srgbClr val="38BDF8"/>
                </a:solidFill>
                <a:latin typeface="Roboto"/>
                <a:ea typeface="Roboto"/>
                <a:cs typeface="Roboto"/>
                <a:sym typeface="Roboto"/>
              </a:endParaRPr>
            </a:p>
          </p:txBody>
        </p:sp>
        <p:sp>
          <p:nvSpPr>
            <p:cNvPr id="87" name="Google Shape;87;p15"/>
            <p:cNvSpPr txBox="1"/>
            <p:nvPr/>
          </p:nvSpPr>
          <p:spPr>
            <a:xfrm>
              <a:off x="552450" y="152400"/>
              <a:ext cx="11241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latin typeface="Roboto"/>
                  <a:ea typeface="Roboto"/>
                  <a:cs typeface="Roboto"/>
                  <a:sym typeface="Roboto"/>
                </a:rPr>
                <a:t>📦</a:t>
              </a:r>
              <a:endParaRPr sz="1400">
                <a:latin typeface="Roboto"/>
                <a:ea typeface="Roboto"/>
                <a:cs typeface="Roboto"/>
                <a:sym typeface="Roboto"/>
              </a:endParaRPr>
            </a:p>
          </p:txBody>
        </p:sp>
        <p:sp>
          <p:nvSpPr>
            <p:cNvPr id="88" name="Google Shape;88;p15"/>
            <p:cNvSpPr txBox="1"/>
            <p:nvPr/>
          </p:nvSpPr>
          <p:spPr>
            <a:xfrm>
              <a:off x="152400" y="4953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FAFC"/>
                  </a:solidFill>
                  <a:latin typeface="Roboto"/>
                  <a:ea typeface="Roboto"/>
                  <a:cs typeface="Roboto"/>
                  <a:sym typeface="Roboto"/>
                </a:rPr>
                <a:t>Empaquetado Optimizado</a:t>
              </a:r>
              <a:endParaRPr b="1" sz="1100">
                <a:solidFill>
                  <a:srgbClr val="F8FAFC"/>
                </a:solidFill>
                <a:latin typeface="Roboto"/>
                <a:ea typeface="Roboto"/>
                <a:cs typeface="Roboto"/>
                <a:sym typeface="Roboto"/>
              </a:endParaRPr>
            </a:p>
          </p:txBody>
        </p:sp>
        <p:sp>
          <p:nvSpPr>
            <p:cNvPr id="89" name="Google Shape;89;p15"/>
            <p:cNvSpPr txBox="1"/>
            <p:nvPr/>
          </p:nvSpPr>
          <p:spPr>
            <a:xfrm>
              <a:off x="152400" y="933450"/>
              <a:ext cx="1524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0" lang="en" sz="900">
                  <a:solidFill>
                    <a:srgbClr val="94A3B8"/>
                  </a:solidFill>
                  <a:latin typeface="Roboto"/>
                  <a:ea typeface="Roboto"/>
                  <a:cs typeface="Roboto"/>
                  <a:sym typeface="Roboto"/>
                </a:rPr>
                <a:t>Uso de Multi-stage Dockerfiles para separar rigurosamente la etapa de compilación de la etapa de producción.</a:t>
              </a:r>
              <a:endParaRPr b="0" sz="900">
                <a:solidFill>
                  <a:srgbClr val="94A3B8"/>
                </a:solidFill>
                <a:latin typeface="Roboto"/>
                <a:ea typeface="Roboto"/>
                <a:cs typeface="Roboto"/>
                <a:sym typeface="Roboto"/>
              </a:endParaRPr>
            </a:p>
          </p:txBody>
        </p:sp>
        <p:pic>
          <p:nvPicPr>
            <p:cNvPr id="90" name="Google Shape;90;p15"/>
            <p:cNvPicPr preferRelativeResize="0"/>
            <p:nvPr/>
          </p:nvPicPr>
          <p:blipFill rotWithShape="1">
            <a:blip r:embed="rId3">
              <a:alphaModFix/>
            </a:blip>
            <a:srcRect b="0" l="0" r="0" t="0"/>
            <a:stretch/>
          </p:blipFill>
          <p:spPr>
            <a:xfrm>
              <a:off x="109538" y="2319338"/>
              <a:ext cx="1609800" cy="733500"/>
            </a:xfrm>
            <a:prstGeom prst="rect">
              <a:avLst/>
            </a:prstGeom>
            <a:noFill/>
            <a:ln>
              <a:noFill/>
            </a:ln>
          </p:spPr>
        </p:pic>
        <p:sp>
          <p:nvSpPr>
            <p:cNvPr id="91" name="Google Shape;91;p15"/>
            <p:cNvSpPr txBox="1"/>
            <p:nvPr/>
          </p:nvSpPr>
          <p:spPr>
            <a:xfrm>
              <a:off x="209550" y="2400300"/>
              <a:ext cx="14097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38BDF8"/>
                  </a:solidFill>
                  <a:latin typeface="Roboto"/>
                  <a:ea typeface="Roboto"/>
                  <a:cs typeface="Roboto"/>
                  <a:sym typeface="Roboto"/>
                </a:rPr>
                <a:t>Aislamiento Total</a:t>
              </a:r>
              <a:endParaRPr b="1" sz="850">
                <a:solidFill>
                  <a:srgbClr val="38BDF8"/>
                </a:solidFill>
                <a:latin typeface="Roboto"/>
                <a:ea typeface="Roboto"/>
                <a:cs typeface="Roboto"/>
                <a:sym typeface="Roboto"/>
              </a:endParaRPr>
            </a:p>
            <a:p>
              <a:pPr indent="0" lvl="0" marL="0" rtl="0" algn="l">
                <a:spcBef>
                  <a:spcPts val="225"/>
                </a:spcBef>
                <a:spcAft>
                  <a:spcPts val="0"/>
                </a:spcAft>
                <a:buNone/>
              </a:pPr>
              <a:r>
                <a:rPr b="0" lang="en" sz="800">
                  <a:solidFill>
                    <a:srgbClr val="CBD5E1"/>
                  </a:solidFill>
                  <a:latin typeface="Roboto"/>
                  <a:ea typeface="Roboto"/>
                  <a:cs typeface="Roboto"/>
                  <a:sym typeface="Roboto"/>
                </a:rPr>
                <a:t>Entornos divididos y limpios</a:t>
              </a:r>
              <a:endParaRPr b="0" sz="800">
                <a:solidFill>
                  <a:srgbClr val="CBD5E1"/>
                </a:solidFill>
                <a:latin typeface="Roboto"/>
                <a:ea typeface="Roboto"/>
                <a:cs typeface="Roboto"/>
                <a:sym typeface="Roboto"/>
              </a:endParaRPr>
            </a:p>
          </p:txBody>
        </p:sp>
      </p:grpSp>
      <p:grpSp>
        <p:nvGrpSpPr>
          <p:cNvPr id="92" name="Google Shape;92;p15"/>
          <p:cNvGrpSpPr/>
          <p:nvPr/>
        </p:nvGrpSpPr>
        <p:grpSpPr>
          <a:xfrm>
            <a:off x="2552700" y="1066800"/>
            <a:ext cx="1828800" cy="3200400"/>
            <a:chOff x="0" y="0"/>
            <a:chExt cx="1828800" cy="3200400"/>
          </a:xfrm>
        </p:grpSpPr>
        <p:sp>
          <p:nvSpPr>
            <p:cNvPr id="93" name="Google Shape;93;p15"/>
            <p:cNvSpPr/>
            <p:nvPr/>
          </p:nvSpPr>
          <p:spPr>
            <a:xfrm>
              <a:off x="0" y="0"/>
              <a:ext cx="1828800" cy="3200400"/>
            </a:xfrm>
            <a:prstGeom prst="roundRect">
              <a:avLst>
                <a:gd fmla="val 7291" name="adj"/>
              </a:avLst>
            </a:prstGeom>
            <a:solidFill>
              <a:srgbClr val="0F172A"/>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5"/>
            <p:cNvSpPr/>
            <p:nvPr/>
          </p:nvSpPr>
          <p:spPr>
            <a:xfrm>
              <a:off x="0" y="0"/>
              <a:ext cx="1828800" cy="38100"/>
            </a:xfrm>
            <a:prstGeom prst="roundRect">
              <a:avLst>
                <a:gd fmla="val 50000" name="adj"/>
              </a:avLst>
            </a:prstGeom>
            <a:solidFill>
              <a:srgbClr val="818C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152400" y="171450"/>
              <a:ext cx="324000" cy="209700"/>
            </a:xfrm>
            <a:prstGeom prst="roundRect">
              <a:avLst>
                <a:gd fmla="val 27272" name="adj"/>
              </a:avLst>
            </a:prstGeom>
            <a:solidFill>
              <a:srgbClr val="4338CA">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152400" y="171450"/>
              <a:ext cx="3240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818CF8"/>
                  </a:solidFill>
                  <a:latin typeface="Roboto"/>
                  <a:ea typeface="Roboto"/>
                  <a:cs typeface="Roboto"/>
                  <a:sym typeface="Roboto"/>
                </a:rPr>
                <a:t>02</a:t>
              </a:r>
              <a:endParaRPr b="1" sz="800">
                <a:solidFill>
                  <a:srgbClr val="818CF8"/>
                </a:solidFill>
                <a:latin typeface="Roboto"/>
                <a:ea typeface="Roboto"/>
                <a:cs typeface="Roboto"/>
                <a:sym typeface="Roboto"/>
              </a:endParaRPr>
            </a:p>
          </p:txBody>
        </p:sp>
        <p:sp>
          <p:nvSpPr>
            <p:cNvPr id="97" name="Google Shape;97;p15"/>
            <p:cNvSpPr txBox="1"/>
            <p:nvPr/>
          </p:nvSpPr>
          <p:spPr>
            <a:xfrm>
              <a:off x="552450" y="152400"/>
              <a:ext cx="11241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latin typeface="Roboto"/>
                  <a:ea typeface="Roboto"/>
                  <a:cs typeface="Roboto"/>
                  <a:sym typeface="Roboto"/>
                </a:rPr>
                <a:t>⚙️</a:t>
              </a:r>
              <a:endParaRPr sz="1400">
                <a:latin typeface="Roboto"/>
                <a:ea typeface="Roboto"/>
                <a:cs typeface="Roboto"/>
                <a:sym typeface="Roboto"/>
              </a:endParaRPr>
            </a:p>
          </p:txBody>
        </p:sp>
        <p:sp>
          <p:nvSpPr>
            <p:cNvPr id="98" name="Google Shape;98;p15"/>
            <p:cNvSpPr txBox="1"/>
            <p:nvPr/>
          </p:nvSpPr>
          <p:spPr>
            <a:xfrm>
              <a:off x="152400" y="4953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FAFC"/>
                  </a:solidFill>
                  <a:latin typeface="Roboto"/>
                  <a:ea typeface="Roboto"/>
                  <a:cs typeface="Roboto"/>
                  <a:sym typeface="Roboto"/>
                </a:rPr>
                <a:t>Etapa de Compilación</a:t>
              </a:r>
              <a:endParaRPr b="1" sz="1100">
                <a:solidFill>
                  <a:srgbClr val="F8FAFC"/>
                </a:solidFill>
                <a:latin typeface="Roboto"/>
                <a:ea typeface="Roboto"/>
                <a:cs typeface="Roboto"/>
                <a:sym typeface="Roboto"/>
              </a:endParaRPr>
            </a:p>
          </p:txBody>
        </p:sp>
        <p:sp>
          <p:nvSpPr>
            <p:cNvPr id="99" name="Google Shape;99;p15"/>
            <p:cNvSpPr txBox="1"/>
            <p:nvPr/>
          </p:nvSpPr>
          <p:spPr>
            <a:xfrm>
              <a:off x="152400" y="933450"/>
              <a:ext cx="1524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0" lang="en" sz="900">
                  <a:solidFill>
                    <a:srgbClr val="94A3B8"/>
                  </a:solidFill>
                  <a:latin typeface="Roboto"/>
                  <a:ea typeface="Roboto"/>
                  <a:cs typeface="Roboto"/>
                  <a:sym typeface="Roboto"/>
                </a:rPr>
                <a:t>Utiliza herramientas pesadas para construir y empaquetar la aplicación.</a:t>
              </a:r>
              <a:endParaRPr b="0" sz="900">
                <a:solidFill>
                  <a:srgbClr val="94A3B8"/>
                </a:solidFill>
                <a:latin typeface="Roboto"/>
                <a:ea typeface="Roboto"/>
                <a:cs typeface="Roboto"/>
                <a:sym typeface="Roboto"/>
              </a:endParaRPr>
            </a:p>
          </p:txBody>
        </p:sp>
        <p:sp>
          <p:nvSpPr>
            <p:cNvPr id="100" name="Google Shape;100;p15"/>
            <p:cNvSpPr/>
            <p:nvPr/>
          </p:nvSpPr>
          <p:spPr>
            <a:xfrm>
              <a:off x="114300" y="2324100"/>
              <a:ext cx="1600200" cy="723900"/>
            </a:xfrm>
            <a:prstGeom prst="roundRect">
              <a:avLst>
                <a:gd fmla="val 10526"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209550" y="2400300"/>
              <a:ext cx="14097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818CF8"/>
                  </a:solidFill>
                  <a:latin typeface="Roboto"/>
                  <a:ea typeface="Roboto"/>
                  <a:cs typeface="Roboto"/>
                  <a:sym typeface="Roboto"/>
                </a:rPr>
                <a:t>Herramientas:</a:t>
              </a:r>
              <a:endParaRPr b="1" sz="850">
                <a:solidFill>
                  <a:srgbClr val="818CF8"/>
                </a:solidFill>
                <a:latin typeface="Roboto"/>
                <a:ea typeface="Roboto"/>
                <a:cs typeface="Roboto"/>
                <a:sym typeface="Roboto"/>
              </a:endParaRPr>
            </a:p>
            <a:p>
              <a:pPr indent="0" lvl="0" marL="0" rtl="0" algn="l">
                <a:spcBef>
                  <a:spcPts val="300"/>
                </a:spcBef>
                <a:spcAft>
                  <a:spcPts val="0"/>
                </a:spcAft>
                <a:buNone/>
              </a:pPr>
              <a:r>
                <a:rPr b="0" lang="en" sz="800">
                  <a:solidFill>
                    <a:srgbClr val="E2E8F0"/>
                  </a:solidFill>
                  <a:latin typeface="Roboto"/>
                  <a:ea typeface="Roboto"/>
                  <a:cs typeface="Roboto"/>
                  <a:sym typeface="Roboto"/>
                </a:rPr>
                <a:t>• .NET SDK</a:t>
              </a:r>
              <a:endParaRPr b="0" sz="800">
                <a:solidFill>
                  <a:srgbClr val="E2E8F0"/>
                </a:solidFill>
                <a:latin typeface="Roboto"/>
                <a:ea typeface="Roboto"/>
                <a:cs typeface="Roboto"/>
                <a:sym typeface="Roboto"/>
              </a:endParaRPr>
            </a:p>
            <a:p>
              <a:pPr indent="0" lvl="0" marL="0" rtl="0" algn="l">
                <a:spcBef>
                  <a:spcPts val="150"/>
                </a:spcBef>
                <a:spcAft>
                  <a:spcPts val="0"/>
                </a:spcAft>
                <a:buNone/>
              </a:pPr>
              <a:r>
                <a:rPr b="0" lang="en" sz="800">
                  <a:solidFill>
                    <a:srgbClr val="E2E8F0"/>
                  </a:solidFill>
                  <a:latin typeface="Roboto"/>
                  <a:ea typeface="Roboto"/>
                  <a:cs typeface="Roboto"/>
                  <a:sym typeface="Roboto"/>
                </a:rPr>
                <a:t>• Node.js</a:t>
              </a:r>
              <a:endParaRPr b="0" sz="800">
                <a:solidFill>
                  <a:srgbClr val="E2E8F0"/>
                </a:solidFill>
                <a:latin typeface="Roboto"/>
                <a:ea typeface="Roboto"/>
                <a:cs typeface="Roboto"/>
                <a:sym typeface="Roboto"/>
              </a:endParaRPr>
            </a:p>
          </p:txBody>
        </p:sp>
      </p:grpSp>
      <p:grpSp>
        <p:nvGrpSpPr>
          <p:cNvPr id="102" name="Google Shape;102;p15"/>
          <p:cNvGrpSpPr/>
          <p:nvPr/>
        </p:nvGrpSpPr>
        <p:grpSpPr>
          <a:xfrm>
            <a:off x="4610100" y="1066800"/>
            <a:ext cx="1828800" cy="3200400"/>
            <a:chOff x="0" y="0"/>
            <a:chExt cx="1828800" cy="3200400"/>
          </a:xfrm>
        </p:grpSpPr>
        <p:sp>
          <p:nvSpPr>
            <p:cNvPr id="103" name="Google Shape;103;p15"/>
            <p:cNvSpPr/>
            <p:nvPr/>
          </p:nvSpPr>
          <p:spPr>
            <a:xfrm>
              <a:off x="0" y="0"/>
              <a:ext cx="1828800" cy="3200400"/>
            </a:xfrm>
            <a:prstGeom prst="roundRect">
              <a:avLst>
                <a:gd fmla="val 7291" name="adj"/>
              </a:avLst>
            </a:prstGeom>
            <a:solidFill>
              <a:srgbClr val="0F172A"/>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p:nvPr/>
          </p:nvSpPr>
          <p:spPr>
            <a:xfrm>
              <a:off x="0" y="0"/>
              <a:ext cx="1828800" cy="38100"/>
            </a:xfrm>
            <a:prstGeom prst="roundRect">
              <a:avLst>
                <a:gd fmla="val 50000" name="adj"/>
              </a:avLst>
            </a:prstGeom>
            <a:solidFill>
              <a:srgbClr val="C084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p:nvPr/>
          </p:nvSpPr>
          <p:spPr>
            <a:xfrm>
              <a:off x="152400" y="171450"/>
              <a:ext cx="324000" cy="209700"/>
            </a:xfrm>
            <a:prstGeom prst="roundRect">
              <a:avLst>
                <a:gd fmla="val 27272" name="adj"/>
              </a:avLst>
            </a:prstGeom>
            <a:solidFill>
              <a:srgbClr val="7E22CE">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152400" y="171450"/>
              <a:ext cx="3240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C084FC"/>
                  </a:solidFill>
                  <a:latin typeface="Roboto"/>
                  <a:ea typeface="Roboto"/>
                  <a:cs typeface="Roboto"/>
                  <a:sym typeface="Roboto"/>
                </a:rPr>
                <a:t>03</a:t>
              </a:r>
              <a:endParaRPr b="1" sz="800">
                <a:solidFill>
                  <a:srgbClr val="C084FC"/>
                </a:solidFill>
                <a:latin typeface="Roboto"/>
                <a:ea typeface="Roboto"/>
                <a:cs typeface="Roboto"/>
                <a:sym typeface="Roboto"/>
              </a:endParaRPr>
            </a:p>
          </p:txBody>
        </p:sp>
        <p:sp>
          <p:nvSpPr>
            <p:cNvPr id="107" name="Google Shape;107;p15"/>
            <p:cNvSpPr txBox="1"/>
            <p:nvPr/>
          </p:nvSpPr>
          <p:spPr>
            <a:xfrm>
              <a:off x="552450" y="152400"/>
              <a:ext cx="11241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latin typeface="Roboto"/>
                  <a:ea typeface="Roboto"/>
                  <a:cs typeface="Roboto"/>
                  <a:sym typeface="Roboto"/>
                </a:rPr>
                <a:t>🚀</a:t>
              </a:r>
              <a:endParaRPr sz="1400">
                <a:latin typeface="Roboto"/>
                <a:ea typeface="Roboto"/>
                <a:cs typeface="Roboto"/>
                <a:sym typeface="Roboto"/>
              </a:endParaRPr>
            </a:p>
          </p:txBody>
        </p:sp>
        <p:sp>
          <p:nvSpPr>
            <p:cNvPr id="108" name="Google Shape;108;p15"/>
            <p:cNvSpPr txBox="1"/>
            <p:nvPr/>
          </p:nvSpPr>
          <p:spPr>
            <a:xfrm>
              <a:off x="152400" y="4953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FAFC"/>
                  </a:solidFill>
                  <a:latin typeface="Roboto"/>
                  <a:ea typeface="Roboto"/>
                  <a:cs typeface="Roboto"/>
                  <a:sym typeface="Roboto"/>
                </a:rPr>
                <a:t>Etapa de Producción</a:t>
              </a:r>
              <a:endParaRPr b="1" sz="1100">
                <a:solidFill>
                  <a:srgbClr val="F8FAFC"/>
                </a:solidFill>
                <a:latin typeface="Roboto"/>
                <a:ea typeface="Roboto"/>
                <a:cs typeface="Roboto"/>
                <a:sym typeface="Roboto"/>
              </a:endParaRPr>
            </a:p>
          </p:txBody>
        </p:sp>
        <p:sp>
          <p:nvSpPr>
            <p:cNvPr id="109" name="Google Shape;109;p15"/>
            <p:cNvSpPr txBox="1"/>
            <p:nvPr/>
          </p:nvSpPr>
          <p:spPr>
            <a:xfrm>
              <a:off x="152400" y="933450"/>
              <a:ext cx="1524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0" lang="en" sz="900">
                  <a:solidFill>
                    <a:srgbClr val="94A3B8"/>
                  </a:solidFill>
                  <a:latin typeface="Roboto"/>
                  <a:ea typeface="Roboto"/>
                  <a:cs typeface="Roboto"/>
                  <a:sym typeface="Roboto"/>
                </a:rPr>
                <a:t>Descarta el SDK y conserva solo ejecutables optimizados.</a:t>
              </a:r>
              <a:endParaRPr b="0" sz="900">
                <a:solidFill>
                  <a:srgbClr val="94A3B8"/>
                </a:solidFill>
                <a:latin typeface="Roboto"/>
                <a:ea typeface="Roboto"/>
                <a:cs typeface="Roboto"/>
                <a:sym typeface="Roboto"/>
              </a:endParaRPr>
            </a:p>
          </p:txBody>
        </p:sp>
        <p:sp>
          <p:nvSpPr>
            <p:cNvPr id="110" name="Google Shape;110;p15"/>
            <p:cNvSpPr/>
            <p:nvPr/>
          </p:nvSpPr>
          <p:spPr>
            <a:xfrm>
              <a:off x="114300" y="2324100"/>
              <a:ext cx="1600200" cy="723900"/>
            </a:xfrm>
            <a:prstGeom prst="roundRect">
              <a:avLst>
                <a:gd fmla="val 10526"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txBox="1"/>
            <p:nvPr/>
          </p:nvSpPr>
          <p:spPr>
            <a:xfrm>
              <a:off x="209550" y="2400300"/>
              <a:ext cx="14097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C084FC"/>
                  </a:solidFill>
                  <a:latin typeface="Roboto"/>
                  <a:ea typeface="Roboto"/>
                  <a:cs typeface="Roboto"/>
                  <a:sym typeface="Roboto"/>
                </a:rPr>
                <a:t>Runtime Liviano:</a:t>
              </a:r>
              <a:endParaRPr b="1" sz="850">
                <a:solidFill>
                  <a:srgbClr val="C084FC"/>
                </a:solidFill>
                <a:latin typeface="Roboto"/>
                <a:ea typeface="Roboto"/>
                <a:cs typeface="Roboto"/>
                <a:sym typeface="Roboto"/>
              </a:endParaRPr>
            </a:p>
            <a:p>
              <a:pPr indent="0" lvl="0" marL="0" rtl="0" algn="l">
                <a:spcBef>
                  <a:spcPts val="300"/>
                </a:spcBef>
                <a:spcAft>
                  <a:spcPts val="0"/>
                </a:spcAft>
                <a:buNone/>
              </a:pPr>
              <a:r>
                <a:rPr b="0" lang="en" sz="800">
                  <a:solidFill>
                    <a:srgbClr val="E2E8F0"/>
                  </a:solidFill>
                  <a:latin typeface="Roboto"/>
                  <a:ea typeface="Roboto"/>
                  <a:cs typeface="Roboto"/>
                  <a:sym typeface="Roboto"/>
                </a:rPr>
                <a:t>• Runtime .NET</a:t>
              </a:r>
              <a:endParaRPr b="0" sz="800">
                <a:solidFill>
                  <a:srgbClr val="E2E8F0"/>
                </a:solidFill>
                <a:latin typeface="Roboto"/>
                <a:ea typeface="Roboto"/>
                <a:cs typeface="Roboto"/>
                <a:sym typeface="Roboto"/>
              </a:endParaRPr>
            </a:p>
            <a:p>
              <a:pPr indent="0" lvl="0" marL="0" rtl="0" algn="l">
                <a:spcBef>
                  <a:spcPts val="150"/>
                </a:spcBef>
                <a:spcAft>
                  <a:spcPts val="0"/>
                </a:spcAft>
                <a:buNone/>
              </a:pPr>
              <a:r>
                <a:rPr b="0" lang="en" sz="800">
                  <a:solidFill>
                    <a:srgbClr val="E2E8F0"/>
                  </a:solidFill>
                  <a:latin typeface="Roboto"/>
                  <a:ea typeface="Roboto"/>
                  <a:cs typeface="Roboto"/>
                  <a:sym typeface="Roboto"/>
                </a:rPr>
                <a:t>• Servidor Nginx</a:t>
              </a:r>
              <a:endParaRPr b="0" sz="800">
                <a:solidFill>
                  <a:srgbClr val="E2E8F0"/>
                </a:solidFill>
                <a:latin typeface="Roboto"/>
                <a:ea typeface="Roboto"/>
                <a:cs typeface="Roboto"/>
                <a:sym typeface="Roboto"/>
              </a:endParaRPr>
            </a:p>
          </p:txBody>
        </p:sp>
      </p:grpSp>
      <p:grpSp>
        <p:nvGrpSpPr>
          <p:cNvPr id="112" name="Google Shape;112;p15"/>
          <p:cNvGrpSpPr/>
          <p:nvPr/>
        </p:nvGrpSpPr>
        <p:grpSpPr>
          <a:xfrm>
            <a:off x="6667500" y="1066800"/>
            <a:ext cx="1828800" cy="3200400"/>
            <a:chOff x="0" y="0"/>
            <a:chExt cx="1828800" cy="3200400"/>
          </a:xfrm>
        </p:grpSpPr>
        <p:sp>
          <p:nvSpPr>
            <p:cNvPr id="113" name="Google Shape;113;p15"/>
            <p:cNvSpPr/>
            <p:nvPr/>
          </p:nvSpPr>
          <p:spPr>
            <a:xfrm>
              <a:off x="0" y="0"/>
              <a:ext cx="1828800" cy="3200400"/>
            </a:xfrm>
            <a:prstGeom prst="roundRect">
              <a:avLst>
                <a:gd fmla="val 7291" name="adj"/>
              </a:avLst>
            </a:prstGeom>
            <a:solidFill>
              <a:srgbClr val="0F172A"/>
            </a:solidFill>
            <a:ln cap="flat" cmpd="sng" w="1430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5"/>
            <p:cNvSpPr/>
            <p:nvPr/>
          </p:nvSpPr>
          <p:spPr>
            <a:xfrm>
              <a:off x="0" y="0"/>
              <a:ext cx="1828800" cy="38100"/>
            </a:xfrm>
            <a:prstGeom prst="roundRect">
              <a:avLst>
                <a:gd fmla="val 50000" name="adj"/>
              </a:avLst>
            </a:prstGeom>
            <a:solidFill>
              <a:srgbClr val="34D3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5"/>
            <p:cNvSpPr/>
            <p:nvPr/>
          </p:nvSpPr>
          <p:spPr>
            <a:xfrm>
              <a:off x="152400" y="171450"/>
              <a:ext cx="324000" cy="209700"/>
            </a:xfrm>
            <a:prstGeom prst="roundRect">
              <a:avLst>
                <a:gd fmla="val 27272" name="adj"/>
              </a:avLst>
            </a:prstGeom>
            <a:solidFill>
              <a:srgbClr val="065F46">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5"/>
            <p:cNvSpPr txBox="1"/>
            <p:nvPr/>
          </p:nvSpPr>
          <p:spPr>
            <a:xfrm>
              <a:off x="152400" y="171450"/>
              <a:ext cx="3240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34D399"/>
                  </a:solidFill>
                  <a:latin typeface="Roboto"/>
                  <a:ea typeface="Roboto"/>
                  <a:cs typeface="Roboto"/>
                  <a:sym typeface="Roboto"/>
                </a:rPr>
                <a:t>04</a:t>
              </a:r>
              <a:endParaRPr b="1" sz="800">
                <a:solidFill>
                  <a:srgbClr val="34D399"/>
                </a:solidFill>
                <a:latin typeface="Roboto"/>
                <a:ea typeface="Roboto"/>
                <a:cs typeface="Roboto"/>
                <a:sym typeface="Roboto"/>
              </a:endParaRPr>
            </a:p>
          </p:txBody>
        </p:sp>
        <p:sp>
          <p:nvSpPr>
            <p:cNvPr id="117" name="Google Shape;117;p15"/>
            <p:cNvSpPr txBox="1"/>
            <p:nvPr/>
          </p:nvSpPr>
          <p:spPr>
            <a:xfrm>
              <a:off x="552450" y="152400"/>
              <a:ext cx="11241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latin typeface="Roboto"/>
                  <a:ea typeface="Roboto"/>
                  <a:cs typeface="Roboto"/>
                  <a:sym typeface="Roboto"/>
                </a:rPr>
                <a:t>🎯</a:t>
              </a:r>
              <a:endParaRPr sz="1400">
                <a:latin typeface="Roboto"/>
                <a:ea typeface="Roboto"/>
                <a:cs typeface="Roboto"/>
                <a:sym typeface="Roboto"/>
              </a:endParaRPr>
            </a:p>
          </p:txBody>
        </p:sp>
        <p:sp>
          <p:nvSpPr>
            <p:cNvPr id="118" name="Google Shape;118;p15"/>
            <p:cNvSpPr txBox="1"/>
            <p:nvPr/>
          </p:nvSpPr>
          <p:spPr>
            <a:xfrm>
              <a:off x="152400" y="4953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FAFC"/>
                  </a:solidFill>
                  <a:latin typeface="Roboto"/>
                  <a:ea typeface="Roboto"/>
                  <a:cs typeface="Roboto"/>
                  <a:sym typeface="Roboto"/>
                </a:rPr>
                <a:t>Resultado Final</a:t>
              </a:r>
              <a:endParaRPr b="1" sz="1100">
                <a:solidFill>
                  <a:srgbClr val="F8FAFC"/>
                </a:solidFill>
                <a:latin typeface="Roboto"/>
                <a:ea typeface="Roboto"/>
                <a:cs typeface="Roboto"/>
                <a:sym typeface="Roboto"/>
              </a:endParaRPr>
            </a:p>
          </p:txBody>
        </p:sp>
        <p:sp>
          <p:nvSpPr>
            <p:cNvPr id="119" name="Google Shape;119;p15"/>
            <p:cNvSpPr txBox="1"/>
            <p:nvPr/>
          </p:nvSpPr>
          <p:spPr>
            <a:xfrm>
              <a:off x="152400" y="933450"/>
              <a:ext cx="1524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0" lang="en" sz="900">
                  <a:solidFill>
                    <a:srgbClr val="94A3B8"/>
                  </a:solidFill>
                  <a:latin typeface="Roboto"/>
                  <a:ea typeface="Roboto"/>
                  <a:cs typeface="Roboto"/>
                  <a:sym typeface="Roboto"/>
                </a:rPr>
                <a:t>Reducción drástica del tamaño final, garantizando portabilidad y seguridad.</a:t>
              </a:r>
              <a:endParaRPr b="0" sz="900">
                <a:solidFill>
                  <a:srgbClr val="94A3B8"/>
                </a:solidFill>
                <a:latin typeface="Roboto"/>
                <a:ea typeface="Roboto"/>
                <a:cs typeface="Roboto"/>
                <a:sym typeface="Roboto"/>
              </a:endParaRPr>
            </a:p>
          </p:txBody>
        </p:sp>
        <p:sp>
          <p:nvSpPr>
            <p:cNvPr id="120" name="Google Shape;120;p15"/>
            <p:cNvSpPr/>
            <p:nvPr/>
          </p:nvSpPr>
          <p:spPr>
            <a:xfrm>
              <a:off x="114300" y="2247900"/>
              <a:ext cx="1600200" cy="800100"/>
            </a:xfrm>
            <a:prstGeom prst="roundRect">
              <a:avLst>
                <a:gd fmla="val 11904" name="adj"/>
              </a:avLst>
            </a:prstGeom>
            <a:solidFill>
              <a:srgbClr val="064E3B">
                <a:alpha val="50000"/>
              </a:srgbClr>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5"/>
            <p:cNvSpPr txBox="1"/>
            <p:nvPr/>
          </p:nvSpPr>
          <p:spPr>
            <a:xfrm>
              <a:off x="152400" y="2305050"/>
              <a:ext cx="15240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800">
                  <a:solidFill>
                    <a:srgbClr val="34D399"/>
                  </a:solidFill>
                  <a:latin typeface="Roboto ExtraBold"/>
                  <a:ea typeface="Roboto ExtraBold"/>
                  <a:cs typeface="Roboto ExtraBold"/>
                  <a:sym typeface="Roboto ExtraBold"/>
                </a:rPr>
                <a:t>&lt; 120MB</a:t>
              </a:r>
              <a:endParaRPr b="0" sz="1800">
                <a:solidFill>
                  <a:srgbClr val="34D399"/>
                </a:solidFill>
                <a:latin typeface="Roboto ExtraBold"/>
                <a:ea typeface="Roboto ExtraBold"/>
                <a:cs typeface="Roboto ExtraBold"/>
                <a:sym typeface="Roboto ExtraBold"/>
              </a:endParaRPr>
            </a:p>
            <a:p>
              <a:pPr indent="0" lvl="0" marL="0" rtl="0" algn="ctr">
                <a:spcBef>
                  <a:spcPts val="150"/>
                </a:spcBef>
                <a:spcAft>
                  <a:spcPts val="0"/>
                </a:spcAft>
                <a:buNone/>
              </a:pPr>
              <a:r>
                <a:rPr b="0" lang="en" sz="800">
                  <a:solidFill>
                    <a:srgbClr val="A7F3D0"/>
                  </a:solidFill>
                  <a:latin typeface="Roboto Medium"/>
                  <a:ea typeface="Roboto Medium"/>
                  <a:cs typeface="Roboto Medium"/>
                  <a:sym typeface="Roboto Medium"/>
                </a:rPr>
                <a:t>Tamaño de Imagen</a:t>
              </a:r>
              <a:endParaRPr b="0" sz="800">
                <a:solidFill>
                  <a:srgbClr val="A7F3D0"/>
                </a:solidFill>
                <a:latin typeface="Roboto Medium"/>
                <a:ea typeface="Roboto Medium"/>
                <a:cs typeface="Roboto Medium"/>
                <a:sym typeface="Roboto Medium"/>
              </a:endParaRPr>
            </a:p>
          </p:txBody>
        </p:sp>
      </p:grpSp>
      <p:sp>
        <p:nvSpPr>
          <p:cNvPr id="122" name="Google Shape;122;p15"/>
          <p:cNvSpPr txBox="1"/>
          <p:nvPr/>
        </p:nvSpPr>
        <p:spPr>
          <a:xfrm>
            <a:off x="495300" y="4552950"/>
            <a:ext cx="4286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 sz="850">
                <a:solidFill>
                  <a:srgbClr val="64748B"/>
                </a:solidFill>
                <a:latin typeface="Roboto"/>
                <a:ea typeface="Roboto"/>
                <a:cs typeface="Roboto"/>
                <a:sym typeface="Roboto"/>
              </a:rPr>
              <a:t>Asignatura: Desarrollo de Aplicaciones Web (DAW-0423807T)</a:t>
            </a:r>
            <a:endParaRPr sz="850">
              <a:solidFill>
                <a:srgbClr val="64748B"/>
              </a:solidFill>
              <a:latin typeface="Roboto"/>
              <a:ea typeface="Roboto"/>
              <a:cs typeface="Roboto"/>
              <a:sym typeface="Roboto"/>
            </a:endParaRPr>
          </a:p>
        </p:txBody>
      </p:sp>
      <p:pic>
        <p:nvPicPr>
          <p:cNvPr id="123" name="Google Shape;123;p15" title="unet-logo-dark.png"/>
          <p:cNvPicPr preferRelativeResize="0"/>
          <p:nvPr/>
        </p:nvPicPr>
        <p:blipFill>
          <a:blip r:embed="rId4">
            <a:alphaModFix/>
          </a:blip>
          <a:stretch>
            <a:fillRect/>
          </a:stretch>
        </p:blipFill>
        <p:spPr>
          <a:xfrm>
            <a:off x="167853" y="55100"/>
            <a:ext cx="585517" cy="888899"/>
          </a:xfrm>
          <a:prstGeom prst="rect">
            <a:avLst/>
          </a:prstGeom>
          <a:noFill/>
          <a:ln>
            <a:noFill/>
          </a:ln>
        </p:spPr>
      </p:pic>
      <p:sp>
        <p:nvSpPr>
          <p:cNvPr id="124" name="Google Shape;124;p15"/>
          <p:cNvSpPr txBox="1"/>
          <p:nvPr/>
        </p:nvSpPr>
        <p:spPr>
          <a:xfrm>
            <a:off x="5524500" y="4552950"/>
            <a:ext cx="3124200" cy="3810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lang="en" sz="850">
                <a:solidFill>
                  <a:srgbClr val="94A3B8"/>
                </a:solidFill>
                <a:latin typeface="Roboto"/>
                <a:ea typeface="Roboto"/>
                <a:cs typeface="Roboto"/>
                <a:sym typeface="Roboto"/>
              </a:rPr>
              <a:t>👨‍🏫 Facilitador: </a:t>
            </a:r>
            <a:r>
              <a:rPr b="1" lang="en" sz="850">
                <a:solidFill>
                  <a:srgbClr val="F1F5F9"/>
                </a:solidFill>
                <a:latin typeface="Roboto"/>
                <a:ea typeface="Roboto"/>
                <a:cs typeface="Roboto"/>
                <a:sym typeface="Roboto"/>
              </a:rPr>
              <a:t>M.Sc. Ing. Gabriel Alexis Ramírez Sánchez</a:t>
            </a:r>
            <a:endParaRPr sz="850">
              <a:solidFill>
                <a:srgbClr val="94A3B8"/>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E24"/>
        </a:solidFill>
      </p:bgPr>
    </p:bg>
    <p:spTree>
      <p:nvGrpSpPr>
        <p:cNvPr id="128" name="Shape 128"/>
        <p:cNvGrpSpPr/>
        <p:nvPr/>
      </p:nvGrpSpPr>
      <p:grpSpPr>
        <a:xfrm>
          <a:off x="0" y="0"/>
          <a:ext cx="0" cy="0"/>
          <a:chOff x="0" y="0"/>
          <a:chExt cx="0" cy="0"/>
        </a:xfrm>
      </p:grpSpPr>
      <p:sp>
        <p:nvSpPr>
          <p:cNvPr id="129" name="Google Shape;129;p16"/>
          <p:cNvSpPr/>
          <p:nvPr/>
        </p:nvSpPr>
        <p:spPr>
          <a:xfrm>
            <a:off x="508000" y="254000"/>
            <a:ext cx="3810000" cy="254100"/>
          </a:xfrm>
          <a:prstGeom prst="roundRect">
            <a:avLst>
              <a:gd fmla="val 16667" name="adj"/>
            </a:avLst>
          </a:prstGeom>
          <a:solidFill>
            <a:srgbClr val="15244C"/>
          </a:solidFill>
          <a:ln cap="flat" cmpd="sng" w="12700">
            <a:solidFill>
              <a:srgbClr val="A5DA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A5DAF0"/>
                </a:solidFill>
                <a:latin typeface="Roboto"/>
                <a:ea typeface="Roboto"/>
                <a:cs typeface="Roboto"/>
                <a:sym typeface="Roboto"/>
              </a:rPr>
              <a:t>03. AUTOMATIZACIÓN CI/CD Y SUSTENTACIÓN TÉCNICA</a:t>
            </a:r>
            <a:endParaRPr b="1" sz="800">
              <a:solidFill>
                <a:srgbClr val="A5DAF0"/>
              </a:solidFill>
              <a:latin typeface="Roboto"/>
              <a:ea typeface="Roboto"/>
              <a:cs typeface="Roboto"/>
              <a:sym typeface="Roboto"/>
            </a:endParaRPr>
          </a:p>
        </p:txBody>
      </p:sp>
      <p:sp>
        <p:nvSpPr>
          <p:cNvPr id="130" name="Google Shape;130;p16"/>
          <p:cNvSpPr txBox="1"/>
          <p:nvPr/>
        </p:nvSpPr>
        <p:spPr>
          <a:xfrm>
            <a:off x="805450" y="571500"/>
            <a:ext cx="5219700" cy="4446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AUTOMATIZACIÓN CI/CD Y SUSTENTACIÓN TÉCNICA</a:t>
            </a:r>
            <a:endParaRPr b="1" i="0" sz="1400">
              <a:solidFill>
                <a:srgbClr val="FFFFFF"/>
              </a:solidFill>
              <a:latin typeface="Roboto"/>
              <a:ea typeface="Roboto"/>
              <a:cs typeface="Roboto"/>
              <a:sym typeface="Roboto"/>
            </a:endParaRPr>
          </a:p>
        </p:txBody>
      </p:sp>
      <p:sp>
        <p:nvSpPr>
          <p:cNvPr id="131" name="Google Shape;131;p16"/>
          <p:cNvSpPr/>
          <p:nvPr/>
        </p:nvSpPr>
        <p:spPr>
          <a:xfrm>
            <a:off x="508000" y="952500"/>
            <a:ext cx="8127900" cy="19200"/>
          </a:xfrm>
          <a:prstGeom prst="rect">
            <a:avLst/>
          </a:prstGeom>
          <a:solidFill>
            <a:srgbClr val="22386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2" name="Google Shape;132;p16"/>
          <p:cNvGrpSpPr/>
          <p:nvPr/>
        </p:nvGrpSpPr>
        <p:grpSpPr>
          <a:xfrm>
            <a:off x="508000" y="1079497"/>
            <a:ext cx="2552700" cy="3302100"/>
            <a:chOff x="0" y="0"/>
            <a:chExt cx="2552700" cy="3302100"/>
          </a:xfrm>
        </p:grpSpPr>
        <p:sp>
          <p:nvSpPr>
            <p:cNvPr id="133" name="Google Shape;133;p16"/>
            <p:cNvSpPr/>
            <p:nvPr/>
          </p:nvSpPr>
          <p:spPr>
            <a:xfrm>
              <a:off x="0" y="0"/>
              <a:ext cx="2552700" cy="3302100"/>
            </a:xfrm>
            <a:prstGeom prst="roundRect">
              <a:avLst>
                <a:gd fmla="val 5970" name="adj"/>
              </a:avLst>
            </a:prstGeom>
            <a:solidFill>
              <a:srgbClr val="15244C"/>
            </a:solidFill>
            <a:ln cap="flat" cmpd="sng" w="15250">
              <a:solidFill>
                <a:srgbClr val="22386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p:nvPr/>
          </p:nvSpPr>
          <p:spPr>
            <a:xfrm>
              <a:off x="152400" y="152400"/>
              <a:ext cx="342900" cy="228600"/>
            </a:xfrm>
            <a:prstGeom prst="roundRect">
              <a:avLst>
                <a:gd fmla="val 25000" name="adj"/>
              </a:avLst>
            </a:prstGeom>
            <a:solidFill>
              <a:srgbClr val="0284C7">
                <a:alpha val="2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txBox="1"/>
            <p:nvPr/>
          </p:nvSpPr>
          <p:spPr>
            <a:xfrm>
              <a:off x="152400" y="152400"/>
              <a:ext cx="342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38BDF8"/>
                  </a:solidFill>
                  <a:latin typeface="Roboto"/>
                  <a:ea typeface="Roboto"/>
                  <a:cs typeface="Roboto"/>
                  <a:sym typeface="Roboto"/>
                </a:rPr>
                <a:t>01</a:t>
              </a:r>
              <a:endParaRPr b="1" sz="900">
                <a:solidFill>
                  <a:srgbClr val="38BDF8"/>
                </a:solidFill>
                <a:latin typeface="Roboto"/>
                <a:ea typeface="Roboto"/>
                <a:cs typeface="Roboto"/>
                <a:sym typeface="Roboto"/>
              </a:endParaRPr>
            </a:p>
          </p:txBody>
        </p:sp>
        <p:sp>
          <p:nvSpPr>
            <p:cNvPr id="136" name="Google Shape;136;p16"/>
            <p:cNvSpPr txBox="1"/>
            <p:nvPr/>
          </p:nvSpPr>
          <p:spPr>
            <a:xfrm>
              <a:off x="152400" y="495300"/>
              <a:ext cx="2247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FFFF"/>
                  </a:solidFill>
                  <a:latin typeface="Roboto"/>
                  <a:ea typeface="Roboto"/>
                  <a:cs typeface="Roboto"/>
                  <a:sym typeface="Roboto"/>
                </a:rPr>
                <a:t>Pipelines Automatizados</a:t>
              </a:r>
              <a:endParaRPr b="1" sz="1200">
                <a:solidFill>
                  <a:srgbClr val="FFFFFF"/>
                </a:solidFill>
                <a:latin typeface="Roboto"/>
                <a:ea typeface="Roboto"/>
                <a:cs typeface="Roboto"/>
                <a:sym typeface="Roboto"/>
              </a:endParaRPr>
            </a:p>
          </p:txBody>
        </p:sp>
        <p:sp>
          <p:nvSpPr>
            <p:cNvPr id="137" name="Google Shape;137;p16"/>
            <p:cNvSpPr txBox="1"/>
            <p:nvPr/>
          </p:nvSpPr>
          <p:spPr>
            <a:xfrm>
              <a:off x="152400" y="933450"/>
              <a:ext cx="22479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94A3B8"/>
                  </a:solidFill>
                  <a:latin typeface="Roboto"/>
                  <a:ea typeface="Roboto"/>
                  <a:cs typeface="Roboto"/>
                  <a:sym typeface="Roboto"/>
                </a:rPr>
                <a:t>Integración y despliegue continuo (CI/CD) mediante GitHub Actions.</a:t>
              </a:r>
              <a:endParaRPr b="0" sz="950">
                <a:solidFill>
                  <a:srgbClr val="94A3B8"/>
                </a:solidFill>
                <a:latin typeface="Roboto"/>
                <a:ea typeface="Roboto"/>
                <a:cs typeface="Roboto"/>
                <a:sym typeface="Roboto"/>
              </a:endParaRPr>
            </a:p>
          </p:txBody>
        </p:sp>
        <p:sp>
          <p:nvSpPr>
            <p:cNvPr id="138" name="Google Shape;138;p16"/>
            <p:cNvSpPr/>
            <p:nvPr/>
          </p:nvSpPr>
          <p:spPr>
            <a:xfrm>
              <a:off x="152400" y="2324100"/>
              <a:ext cx="2247900" cy="762000"/>
            </a:xfrm>
            <a:prstGeom prst="roundRect">
              <a:avLst>
                <a:gd fmla="val 12500"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247650" y="2419350"/>
              <a:ext cx="20574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38BDF8"/>
                  </a:solidFill>
                  <a:latin typeface="Roboto"/>
                  <a:ea typeface="Roboto"/>
                  <a:cs typeface="Roboto"/>
                  <a:sym typeface="Roboto"/>
                </a:rPr>
                <a:t>⚙️ GitHub Actions</a:t>
              </a:r>
              <a:endParaRPr b="1" sz="850">
                <a:solidFill>
                  <a:srgbClr val="38BDF8"/>
                </a:solidFill>
                <a:latin typeface="Roboto"/>
                <a:ea typeface="Roboto"/>
                <a:cs typeface="Roboto"/>
                <a:sym typeface="Roboto"/>
              </a:endParaRPr>
            </a:p>
            <a:p>
              <a:pPr indent="0" lvl="0" marL="0" rtl="0" algn="l">
                <a:spcBef>
                  <a:spcPts val="225"/>
                </a:spcBef>
                <a:spcAft>
                  <a:spcPts val="0"/>
                </a:spcAft>
                <a:buNone/>
              </a:pPr>
              <a:r>
                <a:rPr b="0" lang="en" sz="800">
                  <a:solidFill>
                    <a:srgbClr val="CBD5E1"/>
                  </a:solidFill>
                  <a:latin typeface="Roboto"/>
                  <a:ea typeface="Roboto"/>
                  <a:cs typeface="Roboto"/>
                  <a:sym typeface="Roboto"/>
                </a:rPr>
                <a:t>Workflow CI/CD Automatizado</a:t>
              </a:r>
              <a:endParaRPr b="0" sz="800">
                <a:solidFill>
                  <a:srgbClr val="CBD5E1"/>
                </a:solidFill>
                <a:latin typeface="Roboto"/>
                <a:ea typeface="Roboto"/>
                <a:cs typeface="Roboto"/>
                <a:sym typeface="Roboto"/>
              </a:endParaRPr>
            </a:p>
          </p:txBody>
        </p:sp>
      </p:grpSp>
      <p:grpSp>
        <p:nvGrpSpPr>
          <p:cNvPr id="140" name="Google Shape;140;p16"/>
          <p:cNvGrpSpPr/>
          <p:nvPr/>
        </p:nvGrpSpPr>
        <p:grpSpPr>
          <a:xfrm>
            <a:off x="3294059" y="1079497"/>
            <a:ext cx="2552700" cy="3302100"/>
            <a:chOff x="0" y="0"/>
            <a:chExt cx="2552700" cy="3302100"/>
          </a:xfrm>
        </p:grpSpPr>
        <p:sp>
          <p:nvSpPr>
            <p:cNvPr id="141" name="Google Shape;141;p16"/>
            <p:cNvSpPr/>
            <p:nvPr/>
          </p:nvSpPr>
          <p:spPr>
            <a:xfrm>
              <a:off x="0" y="0"/>
              <a:ext cx="2552700" cy="3302100"/>
            </a:xfrm>
            <a:prstGeom prst="roundRect">
              <a:avLst>
                <a:gd fmla="val 5970" name="adj"/>
              </a:avLst>
            </a:prstGeom>
            <a:solidFill>
              <a:srgbClr val="15244C"/>
            </a:solidFill>
            <a:ln cap="flat" cmpd="sng" w="15250">
              <a:solidFill>
                <a:srgbClr val="22386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p:nvPr/>
          </p:nvSpPr>
          <p:spPr>
            <a:xfrm>
              <a:off x="152400" y="152400"/>
              <a:ext cx="342900" cy="228600"/>
            </a:xfrm>
            <a:prstGeom prst="roundRect">
              <a:avLst>
                <a:gd fmla="val 25000" name="adj"/>
              </a:avLst>
            </a:prstGeom>
            <a:solidFill>
              <a:srgbClr val="4338CA">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6"/>
            <p:cNvSpPr txBox="1"/>
            <p:nvPr/>
          </p:nvSpPr>
          <p:spPr>
            <a:xfrm>
              <a:off x="152400" y="152400"/>
              <a:ext cx="342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818CF8"/>
                  </a:solidFill>
                  <a:latin typeface="Roboto"/>
                  <a:ea typeface="Roboto"/>
                  <a:cs typeface="Roboto"/>
                  <a:sym typeface="Roboto"/>
                </a:rPr>
                <a:t>02</a:t>
              </a:r>
              <a:endParaRPr b="1" sz="900">
                <a:solidFill>
                  <a:srgbClr val="818CF8"/>
                </a:solidFill>
                <a:latin typeface="Roboto"/>
                <a:ea typeface="Roboto"/>
                <a:cs typeface="Roboto"/>
                <a:sym typeface="Roboto"/>
              </a:endParaRPr>
            </a:p>
          </p:txBody>
        </p:sp>
        <p:sp>
          <p:nvSpPr>
            <p:cNvPr id="144" name="Google Shape;144;p16"/>
            <p:cNvSpPr txBox="1"/>
            <p:nvPr/>
          </p:nvSpPr>
          <p:spPr>
            <a:xfrm>
              <a:off x="152400" y="495300"/>
              <a:ext cx="2247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FFFF"/>
                  </a:solidFill>
                  <a:latin typeface="Roboto"/>
                  <a:ea typeface="Roboto"/>
                  <a:cs typeface="Roboto"/>
                  <a:sym typeface="Roboto"/>
                </a:rPr>
                <a:t>Validación Continua</a:t>
              </a:r>
              <a:endParaRPr b="1" sz="1200">
                <a:solidFill>
                  <a:srgbClr val="FFFFFF"/>
                </a:solidFill>
                <a:latin typeface="Roboto"/>
                <a:ea typeface="Roboto"/>
                <a:cs typeface="Roboto"/>
                <a:sym typeface="Roboto"/>
              </a:endParaRPr>
            </a:p>
          </p:txBody>
        </p:sp>
        <p:sp>
          <p:nvSpPr>
            <p:cNvPr id="145" name="Google Shape;145;p16"/>
            <p:cNvSpPr txBox="1"/>
            <p:nvPr/>
          </p:nvSpPr>
          <p:spPr>
            <a:xfrm>
              <a:off x="152400" y="933450"/>
              <a:ext cx="22479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94A3B8"/>
                  </a:solidFill>
                  <a:latin typeface="Roboto"/>
                  <a:ea typeface="Roboto"/>
                  <a:cs typeface="Roboto"/>
                  <a:sym typeface="Roboto"/>
                </a:rPr>
                <a:t>Ejecución automática de compilación y pruebas unitarias (xUnit) ante cada push de los desarrolladores.</a:t>
              </a:r>
              <a:endParaRPr b="0" sz="950">
                <a:solidFill>
                  <a:srgbClr val="94A3B8"/>
                </a:solidFill>
                <a:latin typeface="Roboto"/>
                <a:ea typeface="Roboto"/>
                <a:cs typeface="Roboto"/>
                <a:sym typeface="Roboto"/>
              </a:endParaRPr>
            </a:p>
          </p:txBody>
        </p:sp>
        <p:sp>
          <p:nvSpPr>
            <p:cNvPr id="146" name="Google Shape;146;p16"/>
            <p:cNvSpPr/>
            <p:nvPr/>
          </p:nvSpPr>
          <p:spPr>
            <a:xfrm>
              <a:off x="152400" y="2324100"/>
              <a:ext cx="2247900" cy="762000"/>
            </a:xfrm>
            <a:prstGeom prst="roundRect">
              <a:avLst>
                <a:gd fmla="val 12500"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6"/>
            <p:cNvSpPr txBox="1"/>
            <p:nvPr/>
          </p:nvSpPr>
          <p:spPr>
            <a:xfrm>
              <a:off x="247650" y="2419350"/>
              <a:ext cx="20574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818CF8"/>
                  </a:solidFill>
                  <a:latin typeface="Roboto"/>
                  <a:ea typeface="Roboto"/>
                  <a:cs typeface="Roboto"/>
                  <a:sym typeface="Roboto"/>
                </a:rPr>
                <a:t>🧪 xUnit &amp; Build</a:t>
              </a:r>
              <a:endParaRPr b="1" sz="850">
                <a:solidFill>
                  <a:srgbClr val="818CF8"/>
                </a:solidFill>
                <a:latin typeface="Roboto"/>
                <a:ea typeface="Roboto"/>
                <a:cs typeface="Roboto"/>
                <a:sym typeface="Roboto"/>
              </a:endParaRPr>
            </a:p>
            <a:p>
              <a:pPr indent="0" lvl="0" marL="0" rtl="0" algn="l">
                <a:spcBef>
                  <a:spcPts val="225"/>
                </a:spcBef>
                <a:spcAft>
                  <a:spcPts val="0"/>
                </a:spcAft>
                <a:buNone/>
              </a:pPr>
              <a:r>
                <a:rPr b="0" lang="en" sz="800">
                  <a:solidFill>
                    <a:srgbClr val="CBD5E1"/>
                  </a:solidFill>
                  <a:latin typeface="Roboto"/>
                  <a:ea typeface="Roboto"/>
                  <a:cs typeface="Roboto"/>
                  <a:sym typeface="Roboto"/>
                </a:rPr>
                <a:t>Trigger automático por Push</a:t>
              </a:r>
              <a:endParaRPr b="0" sz="800">
                <a:solidFill>
                  <a:srgbClr val="CBD5E1"/>
                </a:solidFill>
                <a:latin typeface="Roboto"/>
                <a:ea typeface="Roboto"/>
                <a:cs typeface="Roboto"/>
                <a:sym typeface="Roboto"/>
              </a:endParaRPr>
            </a:p>
          </p:txBody>
        </p:sp>
      </p:grpSp>
      <p:sp>
        <p:nvSpPr>
          <p:cNvPr id="148" name="Google Shape;148;p16"/>
          <p:cNvSpPr txBox="1"/>
          <p:nvPr/>
        </p:nvSpPr>
        <p:spPr>
          <a:xfrm>
            <a:off x="176213" y="4524375"/>
            <a:ext cx="4312800" cy="55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A5DAF0"/>
                </a:solidFill>
                <a:latin typeface="Roboto"/>
                <a:ea typeface="Roboto"/>
                <a:cs typeface="Roboto"/>
                <a:sym typeface="Roboto"/>
              </a:rPr>
              <a:t>Asignatura: Desarrollo de Aplicaciones Web (DAW-0423807T)</a:t>
            </a:r>
            <a:endParaRPr b="0" sz="900">
              <a:solidFill>
                <a:srgbClr val="A5DAF0"/>
              </a:solidFill>
              <a:latin typeface="Roboto"/>
              <a:ea typeface="Roboto"/>
              <a:cs typeface="Roboto"/>
              <a:sym typeface="Roboto"/>
            </a:endParaRPr>
          </a:p>
        </p:txBody>
      </p:sp>
      <p:grpSp>
        <p:nvGrpSpPr>
          <p:cNvPr id="149" name="Google Shape;149;p16"/>
          <p:cNvGrpSpPr/>
          <p:nvPr/>
        </p:nvGrpSpPr>
        <p:grpSpPr>
          <a:xfrm>
            <a:off x="6080122" y="1079497"/>
            <a:ext cx="2552700" cy="3302100"/>
            <a:chOff x="0" y="0"/>
            <a:chExt cx="2552700" cy="3302100"/>
          </a:xfrm>
        </p:grpSpPr>
        <p:sp>
          <p:nvSpPr>
            <p:cNvPr id="150" name="Google Shape;150;p16"/>
            <p:cNvSpPr/>
            <p:nvPr/>
          </p:nvSpPr>
          <p:spPr>
            <a:xfrm>
              <a:off x="0" y="0"/>
              <a:ext cx="2552700" cy="3302100"/>
            </a:xfrm>
            <a:prstGeom prst="roundRect">
              <a:avLst>
                <a:gd fmla="val 5970" name="adj"/>
              </a:avLst>
            </a:prstGeom>
            <a:solidFill>
              <a:srgbClr val="15244C"/>
            </a:solidFill>
            <a:ln cap="flat" cmpd="sng" w="15250">
              <a:solidFill>
                <a:srgbClr val="22386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6"/>
            <p:cNvSpPr/>
            <p:nvPr/>
          </p:nvSpPr>
          <p:spPr>
            <a:xfrm>
              <a:off x="152400" y="152400"/>
              <a:ext cx="342900" cy="228600"/>
            </a:xfrm>
            <a:prstGeom prst="roundRect">
              <a:avLst>
                <a:gd fmla="val 25000" name="adj"/>
              </a:avLst>
            </a:prstGeom>
            <a:solidFill>
              <a:srgbClr val="065F46">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6"/>
            <p:cNvSpPr txBox="1"/>
            <p:nvPr/>
          </p:nvSpPr>
          <p:spPr>
            <a:xfrm>
              <a:off x="152400" y="152400"/>
              <a:ext cx="342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34D399"/>
                  </a:solidFill>
                  <a:latin typeface="Roboto"/>
                  <a:ea typeface="Roboto"/>
                  <a:cs typeface="Roboto"/>
                  <a:sym typeface="Roboto"/>
                </a:rPr>
                <a:t>03</a:t>
              </a:r>
              <a:endParaRPr b="1" sz="900">
                <a:solidFill>
                  <a:srgbClr val="34D399"/>
                </a:solidFill>
                <a:latin typeface="Roboto"/>
                <a:ea typeface="Roboto"/>
                <a:cs typeface="Roboto"/>
                <a:sym typeface="Roboto"/>
              </a:endParaRPr>
            </a:p>
          </p:txBody>
        </p:sp>
        <p:sp>
          <p:nvSpPr>
            <p:cNvPr id="153" name="Google Shape;153;p16"/>
            <p:cNvSpPr txBox="1"/>
            <p:nvPr/>
          </p:nvSpPr>
          <p:spPr>
            <a:xfrm>
              <a:off x="152400" y="495300"/>
              <a:ext cx="2247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FFFF"/>
                  </a:solidFill>
                  <a:latin typeface="Roboto"/>
                  <a:ea typeface="Roboto"/>
                  <a:cs typeface="Roboto"/>
                  <a:sym typeface="Roboto"/>
                </a:rPr>
                <a:t>Sustentación Técnica</a:t>
              </a:r>
              <a:endParaRPr b="1" sz="1200">
                <a:solidFill>
                  <a:srgbClr val="FFFFFF"/>
                </a:solidFill>
                <a:latin typeface="Roboto"/>
                <a:ea typeface="Roboto"/>
                <a:cs typeface="Roboto"/>
                <a:sym typeface="Roboto"/>
              </a:endParaRPr>
            </a:p>
          </p:txBody>
        </p:sp>
        <p:sp>
          <p:nvSpPr>
            <p:cNvPr id="154" name="Google Shape;154;p16"/>
            <p:cNvSpPr txBox="1"/>
            <p:nvPr/>
          </p:nvSpPr>
          <p:spPr>
            <a:xfrm>
              <a:off x="152400" y="933450"/>
              <a:ext cx="22479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94A3B8"/>
                  </a:solidFill>
                  <a:latin typeface="Roboto"/>
                  <a:ea typeface="Roboto"/>
                  <a:cs typeface="Roboto"/>
                  <a:sym typeface="Roboto"/>
                </a:rPr>
                <a:t>Defensa del proyecto integrador ante el tribunal evaluador, justificando decisiones arquitectónicas y demostrando la operatividad en producción.</a:t>
              </a:r>
              <a:endParaRPr b="0" sz="950">
                <a:solidFill>
                  <a:srgbClr val="94A3B8"/>
                </a:solidFill>
                <a:latin typeface="Roboto"/>
                <a:ea typeface="Roboto"/>
                <a:cs typeface="Roboto"/>
                <a:sym typeface="Roboto"/>
              </a:endParaRPr>
            </a:p>
          </p:txBody>
        </p:sp>
        <p:sp>
          <p:nvSpPr>
            <p:cNvPr id="155" name="Google Shape;155;p16"/>
            <p:cNvSpPr/>
            <p:nvPr/>
          </p:nvSpPr>
          <p:spPr>
            <a:xfrm>
              <a:off x="152400" y="2324100"/>
              <a:ext cx="2247900" cy="762000"/>
            </a:xfrm>
            <a:prstGeom prst="roundRect">
              <a:avLst>
                <a:gd fmla="val 12500" name="adj"/>
              </a:avLst>
            </a:prstGeom>
            <a:solidFill>
              <a:srgbClr val="064E3B">
                <a:alpha val="40000"/>
              </a:srgbClr>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6"/>
            <p:cNvSpPr txBox="1"/>
            <p:nvPr/>
          </p:nvSpPr>
          <p:spPr>
            <a:xfrm>
              <a:off x="247650" y="2419350"/>
              <a:ext cx="20574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34D399"/>
                  </a:solidFill>
                  <a:latin typeface="Roboto"/>
                  <a:ea typeface="Roboto"/>
                  <a:cs typeface="Roboto"/>
                  <a:sym typeface="Roboto"/>
                </a:rPr>
                <a:t>🏛️ Defensa y Producción</a:t>
              </a:r>
              <a:endParaRPr b="1" sz="850">
                <a:solidFill>
                  <a:srgbClr val="34D399"/>
                </a:solidFill>
                <a:latin typeface="Roboto"/>
                <a:ea typeface="Roboto"/>
                <a:cs typeface="Roboto"/>
                <a:sym typeface="Roboto"/>
              </a:endParaRPr>
            </a:p>
            <a:p>
              <a:pPr indent="0" lvl="0" marL="0" rtl="0" algn="l">
                <a:spcBef>
                  <a:spcPts val="225"/>
                </a:spcBef>
                <a:spcAft>
                  <a:spcPts val="0"/>
                </a:spcAft>
                <a:buNone/>
              </a:pPr>
              <a:r>
                <a:rPr b="0" lang="en" sz="800">
                  <a:solidFill>
                    <a:srgbClr val="A7F3D0"/>
                  </a:solidFill>
                  <a:latin typeface="Roboto"/>
                  <a:ea typeface="Roboto"/>
                  <a:cs typeface="Roboto"/>
                  <a:sym typeface="Roboto"/>
                </a:rPr>
                <a:t>Justificación Arquitectónica</a:t>
              </a:r>
              <a:endParaRPr b="0" sz="800">
                <a:solidFill>
                  <a:srgbClr val="A7F3D0"/>
                </a:solidFill>
                <a:latin typeface="Roboto"/>
                <a:ea typeface="Roboto"/>
                <a:cs typeface="Roboto"/>
                <a:sym typeface="Roboto"/>
              </a:endParaRPr>
            </a:p>
          </p:txBody>
        </p:sp>
      </p:grpSp>
      <p:sp>
        <p:nvSpPr>
          <p:cNvPr id="157" name="Google Shape;157;p16"/>
          <p:cNvSpPr txBox="1"/>
          <p:nvPr/>
        </p:nvSpPr>
        <p:spPr>
          <a:xfrm>
            <a:off x="5283232" y="4445127"/>
            <a:ext cx="3352800" cy="64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FFFFFF"/>
                </a:solidFill>
                <a:latin typeface="Roboto"/>
                <a:ea typeface="Roboto"/>
                <a:cs typeface="Roboto"/>
                <a:sym typeface="Roboto"/>
              </a:rPr>
              <a:t>👨‍🏫 Facilitador:</a:t>
            </a:r>
            <a:endParaRPr b="0" sz="900">
              <a:solidFill>
                <a:srgbClr val="FFFFFF"/>
              </a:solidFill>
              <a:latin typeface="Roboto"/>
              <a:ea typeface="Roboto"/>
              <a:cs typeface="Roboto"/>
              <a:sym typeface="Roboto"/>
            </a:endParaRPr>
          </a:p>
          <a:p>
            <a:pPr indent="0" lvl="0" marL="0" rtl="0" algn="l">
              <a:spcBef>
                <a:spcPts val="0"/>
              </a:spcBef>
              <a:spcAft>
                <a:spcPts val="0"/>
              </a:spcAft>
              <a:buNone/>
            </a:pPr>
            <a:r>
              <a:rPr b="1" lang="en" sz="900">
                <a:solidFill>
                  <a:srgbClr val="FFFFFF"/>
                </a:solidFill>
                <a:latin typeface="Roboto"/>
                <a:ea typeface="Roboto"/>
                <a:cs typeface="Roboto"/>
                <a:sym typeface="Roboto"/>
              </a:rPr>
              <a:t>M.Sc. Ing. Gabriel Alexis Ramírez Sánchez</a:t>
            </a:r>
            <a:endParaRPr b="1" sz="900">
              <a:solidFill>
                <a:srgbClr val="FFFFFF"/>
              </a:solidFill>
              <a:latin typeface="Roboto"/>
              <a:ea typeface="Roboto"/>
              <a:cs typeface="Roboto"/>
              <a:sym typeface="Roboto"/>
            </a:endParaRPr>
          </a:p>
        </p:txBody>
      </p:sp>
      <p:pic>
        <p:nvPicPr>
          <p:cNvPr id="158" name="Google Shape;158;p16" title="unet-logo-dark.png"/>
          <p:cNvPicPr preferRelativeResize="0"/>
          <p:nvPr/>
        </p:nvPicPr>
        <p:blipFill>
          <a:blip r:embed="rId3">
            <a:alphaModFix/>
          </a:blip>
          <a:stretch>
            <a:fillRect/>
          </a:stretch>
        </p:blipFill>
        <p:spPr>
          <a:xfrm>
            <a:off x="167853" y="55100"/>
            <a:ext cx="585517" cy="8888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E24"/>
        </a:solidFill>
      </p:bgPr>
    </p:bg>
    <p:spTree>
      <p:nvGrpSpPr>
        <p:cNvPr id="162" name="Shape 162"/>
        <p:cNvGrpSpPr/>
        <p:nvPr/>
      </p:nvGrpSpPr>
      <p:grpSpPr>
        <a:xfrm>
          <a:off x="0" y="0"/>
          <a:ext cx="0" cy="0"/>
          <a:chOff x="0" y="0"/>
          <a:chExt cx="0" cy="0"/>
        </a:xfrm>
      </p:grpSpPr>
      <p:sp>
        <p:nvSpPr>
          <p:cNvPr id="163" name="Google Shape;163;p17"/>
          <p:cNvSpPr/>
          <p:nvPr/>
        </p:nvSpPr>
        <p:spPr>
          <a:xfrm>
            <a:off x="838200" y="241200"/>
            <a:ext cx="3810000" cy="254100"/>
          </a:xfrm>
          <a:prstGeom prst="roundRect">
            <a:avLst>
              <a:gd fmla="val 16666" name="adj"/>
            </a:avLst>
          </a:prstGeom>
          <a:solidFill>
            <a:srgbClr val="15244C"/>
          </a:solidFill>
          <a:ln cap="flat" cmpd="sng" w="12700">
            <a:solidFill>
              <a:srgbClr val="A5DAF0"/>
            </a:solidFill>
            <a:prstDash val="solid"/>
            <a:round/>
            <a:headEnd len="sm" w="sm" type="none"/>
            <a:tailEnd len="sm" w="sm" type="none"/>
          </a:ln>
        </p:spPr>
        <p:txBody>
          <a:bodyPr anchorCtr="0" anchor="ctr" bIns="91400" lIns="91400" spcFirstLastPara="1" rIns="91400" wrap="square" tIns="91400">
            <a:noAutofit/>
          </a:bodyPr>
          <a:lstStyle/>
          <a:p>
            <a:pPr indent="0" lvl="0" marL="0" rtl="0" algn="ctr">
              <a:spcBef>
                <a:spcPts val="0"/>
              </a:spcBef>
              <a:spcAft>
                <a:spcPts val="0"/>
              </a:spcAft>
              <a:buNone/>
            </a:pPr>
            <a:r>
              <a:rPr b="1" lang="en" sz="800">
                <a:solidFill>
                  <a:srgbClr val="A5DAF0"/>
                </a:solidFill>
                <a:latin typeface="Roboto"/>
                <a:ea typeface="Roboto"/>
                <a:cs typeface="Roboto"/>
                <a:sym typeface="Roboto"/>
              </a:rPr>
              <a:t>04. GUÍA DE DESPLIEGUE (LIVE DEMO)</a:t>
            </a:r>
            <a:endParaRPr b="1" i="0" sz="800">
              <a:solidFill>
                <a:srgbClr val="A5DAF0"/>
              </a:solidFill>
              <a:latin typeface="Roboto"/>
              <a:ea typeface="Roboto"/>
              <a:cs typeface="Roboto"/>
              <a:sym typeface="Roboto"/>
            </a:endParaRPr>
          </a:p>
        </p:txBody>
      </p:sp>
      <p:sp>
        <p:nvSpPr>
          <p:cNvPr id="164" name="Google Shape;164;p17"/>
          <p:cNvSpPr txBox="1"/>
          <p:nvPr/>
        </p:nvSpPr>
        <p:spPr>
          <a:xfrm>
            <a:off x="838200" y="495300"/>
            <a:ext cx="7810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Despliegue Local &amp; Verificación de Servidores</a:t>
            </a:r>
            <a:endParaRPr b="1" sz="1600">
              <a:solidFill>
                <a:srgbClr val="FFFFFF"/>
              </a:solidFill>
              <a:latin typeface="Roboto"/>
              <a:ea typeface="Roboto"/>
              <a:cs typeface="Roboto"/>
              <a:sym typeface="Roboto"/>
            </a:endParaRPr>
          </a:p>
        </p:txBody>
      </p:sp>
      <p:sp>
        <p:nvSpPr>
          <p:cNvPr id="165" name="Google Shape;165;p17"/>
          <p:cNvSpPr/>
          <p:nvPr/>
        </p:nvSpPr>
        <p:spPr>
          <a:xfrm>
            <a:off x="508000" y="914400"/>
            <a:ext cx="8124900" cy="192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7"/>
          <p:cNvSpPr txBox="1"/>
          <p:nvPr/>
        </p:nvSpPr>
        <p:spPr>
          <a:xfrm>
            <a:off x="508000" y="1079497"/>
            <a:ext cx="4286400" cy="3200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38BDF8"/>
                </a:solidFill>
                <a:latin typeface="Roboto"/>
                <a:ea typeface="Roboto"/>
                <a:cs typeface="Roboto"/>
                <a:sym typeface="Roboto"/>
              </a:rPr>
              <a:t>⚡ Comandos de Terminal</a:t>
            </a:r>
            <a:endParaRPr b="1" sz="2100">
              <a:solidFill>
                <a:srgbClr val="38BDF8"/>
              </a:solidFill>
              <a:latin typeface="Roboto"/>
              <a:ea typeface="Roboto"/>
              <a:cs typeface="Roboto"/>
              <a:sym typeface="Roboto"/>
            </a:endParaRPr>
          </a:p>
          <a:p>
            <a:pPr indent="0" lvl="0" marL="0" rtl="0" algn="l">
              <a:spcBef>
                <a:spcPts val="600"/>
              </a:spcBef>
              <a:spcAft>
                <a:spcPts val="0"/>
              </a:spcAft>
              <a:buNone/>
            </a:pPr>
            <a:r>
              <a:rPr b="0" lang="en" sz="1850">
                <a:solidFill>
                  <a:srgbClr val="94A3B8"/>
                </a:solidFill>
                <a:latin typeface="Roboto Medium"/>
                <a:ea typeface="Roboto Medium"/>
                <a:cs typeface="Roboto Medium"/>
                <a:sym typeface="Roboto Medium"/>
              </a:rPr>
              <a:t>1. Limpiar contenedores previos</a:t>
            </a:r>
            <a:endParaRPr b="0" sz="1850">
              <a:solidFill>
                <a:srgbClr val="94A3B8"/>
              </a:solidFill>
              <a:latin typeface="Roboto Medium"/>
              <a:ea typeface="Roboto Medium"/>
              <a:cs typeface="Roboto Medium"/>
              <a:sym typeface="Roboto Medium"/>
            </a:endParaRPr>
          </a:p>
          <a:p>
            <a:pPr indent="0" lvl="0" marL="0" rtl="0" algn="l">
              <a:spcBef>
                <a:spcPts val="300"/>
              </a:spcBef>
              <a:spcAft>
                <a:spcPts val="0"/>
              </a:spcAft>
              <a:buNone/>
            </a:pPr>
            <a:r>
              <a:rPr b="1" lang="en" sz="1950">
                <a:solidFill>
                  <a:srgbClr val="38BDF8"/>
                </a:solidFill>
                <a:latin typeface="Courier New"/>
                <a:ea typeface="Courier New"/>
                <a:cs typeface="Courier New"/>
                <a:sym typeface="Courier New"/>
              </a:rPr>
              <a:t>docker-compose down -v</a:t>
            </a:r>
            <a:endParaRPr b="1" sz="1950">
              <a:solidFill>
                <a:srgbClr val="38BDF8"/>
              </a:solidFill>
              <a:latin typeface="Courier New"/>
              <a:ea typeface="Courier New"/>
              <a:cs typeface="Courier New"/>
              <a:sym typeface="Courier New"/>
            </a:endParaRPr>
          </a:p>
          <a:p>
            <a:pPr indent="0" lvl="0" marL="0" rtl="0" algn="l">
              <a:spcBef>
                <a:spcPts val="600"/>
              </a:spcBef>
              <a:spcAft>
                <a:spcPts val="0"/>
              </a:spcAft>
              <a:buNone/>
            </a:pPr>
            <a:r>
              <a:rPr b="0" lang="en" sz="1850">
                <a:solidFill>
                  <a:srgbClr val="94A3B8"/>
                </a:solidFill>
                <a:latin typeface="Roboto Medium"/>
                <a:ea typeface="Roboto Medium"/>
                <a:cs typeface="Roboto Medium"/>
                <a:sym typeface="Roboto Medium"/>
              </a:rPr>
              <a:t>2. Compilar y levantar red</a:t>
            </a:r>
            <a:endParaRPr b="0" sz="1850">
              <a:solidFill>
                <a:srgbClr val="94A3B8"/>
              </a:solidFill>
              <a:latin typeface="Roboto Medium"/>
              <a:ea typeface="Roboto Medium"/>
              <a:cs typeface="Roboto Medium"/>
              <a:sym typeface="Roboto Medium"/>
            </a:endParaRPr>
          </a:p>
          <a:p>
            <a:pPr indent="0" lvl="0" marL="0" rtl="0" algn="l">
              <a:spcBef>
                <a:spcPts val="300"/>
              </a:spcBef>
              <a:spcAft>
                <a:spcPts val="0"/>
              </a:spcAft>
              <a:buNone/>
            </a:pPr>
            <a:r>
              <a:rPr b="1" lang="en" sz="1950">
                <a:solidFill>
                  <a:srgbClr val="818CF8"/>
                </a:solidFill>
                <a:latin typeface="Courier New"/>
                <a:ea typeface="Courier New"/>
                <a:cs typeface="Courier New"/>
                <a:sym typeface="Courier New"/>
              </a:rPr>
              <a:t>docker-compose up --build -d</a:t>
            </a:r>
            <a:endParaRPr b="1" sz="1950">
              <a:solidFill>
                <a:srgbClr val="818CF8"/>
              </a:solidFill>
              <a:latin typeface="Courier New"/>
              <a:ea typeface="Courier New"/>
              <a:cs typeface="Courier New"/>
              <a:sym typeface="Courier New"/>
            </a:endParaRPr>
          </a:p>
          <a:p>
            <a:pPr indent="0" lvl="0" marL="0" rtl="0" algn="l">
              <a:spcBef>
                <a:spcPts val="600"/>
              </a:spcBef>
              <a:spcAft>
                <a:spcPts val="0"/>
              </a:spcAft>
              <a:buNone/>
            </a:pPr>
            <a:r>
              <a:rPr b="0" lang="en" sz="1850">
                <a:solidFill>
                  <a:srgbClr val="94A3B8"/>
                </a:solidFill>
                <a:latin typeface="Roboto Medium"/>
                <a:ea typeface="Roboto Medium"/>
                <a:cs typeface="Roboto Medium"/>
                <a:sym typeface="Roboto Medium"/>
              </a:rPr>
              <a:t>3. Verificar estado de servicios</a:t>
            </a:r>
            <a:endParaRPr b="0" sz="1850">
              <a:solidFill>
                <a:srgbClr val="94A3B8"/>
              </a:solidFill>
              <a:latin typeface="Roboto Medium"/>
              <a:ea typeface="Roboto Medium"/>
              <a:cs typeface="Roboto Medium"/>
              <a:sym typeface="Roboto Medium"/>
            </a:endParaRPr>
          </a:p>
          <a:p>
            <a:pPr indent="0" lvl="0" marL="0" rtl="0" algn="l">
              <a:spcBef>
                <a:spcPts val="300"/>
              </a:spcBef>
              <a:spcAft>
                <a:spcPts val="0"/>
              </a:spcAft>
              <a:buNone/>
            </a:pPr>
            <a:r>
              <a:rPr b="1" lang="en" sz="1950">
                <a:solidFill>
                  <a:srgbClr val="34D399"/>
                </a:solidFill>
                <a:latin typeface="Courier New"/>
                <a:ea typeface="Courier New"/>
                <a:cs typeface="Courier New"/>
                <a:sym typeface="Courier New"/>
              </a:rPr>
              <a:t>docker ps</a:t>
            </a:r>
            <a:endParaRPr b="1" sz="1950">
              <a:solidFill>
                <a:srgbClr val="34D399"/>
              </a:solidFill>
              <a:latin typeface="Courier New"/>
              <a:ea typeface="Courier New"/>
              <a:cs typeface="Courier New"/>
              <a:sym typeface="Courier New"/>
            </a:endParaRPr>
          </a:p>
        </p:txBody>
      </p:sp>
      <p:sp>
        <p:nvSpPr>
          <p:cNvPr id="167" name="Google Shape;167;p17"/>
          <p:cNvSpPr/>
          <p:nvPr/>
        </p:nvSpPr>
        <p:spPr>
          <a:xfrm>
            <a:off x="5016503" y="1079497"/>
            <a:ext cx="3619500" cy="3200400"/>
          </a:xfrm>
          <a:prstGeom prst="roundRect">
            <a:avLst>
              <a:gd fmla="val 3571" name="adj"/>
            </a:avLst>
          </a:prstGeom>
          <a:solidFill>
            <a:srgbClr val="0A1128"/>
          </a:solidFill>
          <a:ln cap="flat" cmpd="sng" w="14300">
            <a:solidFill>
              <a:srgbClr val="22386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7"/>
          <p:cNvSpPr/>
          <p:nvPr/>
        </p:nvSpPr>
        <p:spPr>
          <a:xfrm>
            <a:off x="5016503" y="1079497"/>
            <a:ext cx="3619500" cy="304800"/>
          </a:xfrm>
          <a:prstGeom prst="rect">
            <a:avLst/>
          </a:prstGeom>
          <a:solidFill>
            <a:srgbClr val="15244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7"/>
          <p:cNvSpPr/>
          <p:nvPr/>
        </p:nvSpPr>
        <p:spPr>
          <a:xfrm>
            <a:off x="5133975" y="1181100"/>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7"/>
          <p:cNvSpPr/>
          <p:nvPr/>
        </p:nvSpPr>
        <p:spPr>
          <a:xfrm>
            <a:off x="5286375" y="1181100"/>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7"/>
          <p:cNvSpPr/>
          <p:nvPr/>
        </p:nvSpPr>
        <p:spPr>
          <a:xfrm>
            <a:off x="5438775" y="1181100"/>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7"/>
          <p:cNvSpPr txBox="1"/>
          <p:nvPr/>
        </p:nvSpPr>
        <p:spPr>
          <a:xfrm>
            <a:off x="5619750" y="1114425"/>
            <a:ext cx="2857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94A3B8"/>
                </a:solidFill>
                <a:latin typeface="Courier New"/>
                <a:ea typeface="Courier New"/>
                <a:cs typeface="Courier New"/>
                <a:sym typeface="Courier New"/>
              </a:rPr>
              <a:t>bash - live_environment_status</a:t>
            </a:r>
            <a:endParaRPr b="1" sz="800">
              <a:solidFill>
                <a:srgbClr val="94A3B8"/>
              </a:solidFill>
              <a:latin typeface="Courier New"/>
              <a:ea typeface="Courier New"/>
              <a:cs typeface="Courier New"/>
              <a:sym typeface="Courier New"/>
            </a:endParaRPr>
          </a:p>
        </p:txBody>
      </p:sp>
      <p:sp>
        <p:nvSpPr>
          <p:cNvPr id="173" name="Google Shape;173;p17"/>
          <p:cNvSpPr txBox="1"/>
          <p:nvPr/>
        </p:nvSpPr>
        <p:spPr>
          <a:xfrm>
            <a:off x="5168903" y="1476375"/>
            <a:ext cx="3314700" cy="2667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34D399"/>
                </a:solidFill>
                <a:latin typeface="Courier New"/>
                <a:ea typeface="Courier New"/>
                <a:cs typeface="Courier New"/>
                <a:sym typeface="Courier New"/>
              </a:rPr>
              <a:t>✔ Network &amp; Containers Running</a:t>
            </a:r>
            <a:endParaRPr b="1" sz="850">
              <a:solidFill>
                <a:srgbClr val="34D399"/>
              </a:solidFill>
              <a:latin typeface="Courier New"/>
              <a:ea typeface="Courier New"/>
              <a:cs typeface="Courier New"/>
              <a:sym typeface="Courier New"/>
            </a:endParaRPr>
          </a:p>
          <a:p>
            <a:pPr indent="0" lvl="0" marL="0" rtl="0" algn="l">
              <a:spcBef>
                <a:spcPts val="750"/>
              </a:spcBef>
              <a:spcAft>
                <a:spcPts val="0"/>
              </a:spcAft>
              <a:buNone/>
            </a:pPr>
            <a:r>
              <a:rPr b="1" lang="en" sz="850">
                <a:solidFill>
                  <a:srgbClr val="CBD5E1"/>
                </a:solidFill>
                <a:latin typeface="Courier New"/>
                <a:ea typeface="Courier New"/>
                <a:cs typeface="Courier New"/>
                <a:sym typeface="Courier New"/>
              </a:rPr>
              <a:t>Accesos Disponibles (URLs):</a:t>
            </a:r>
            <a:endParaRPr b="1" sz="850">
              <a:solidFill>
                <a:srgbClr val="CBD5E1"/>
              </a:solidFill>
              <a:latin typeface="Courier New"/>
              <a:ea typeface="Courier New"/>
              <a:cs typeface="Courier New"/>
              <a:sym typeface="Courier New"/>
            </a:endParaRPr>
          </a:p>
          <a:p>
            <a:pPr indent="0" lvl="0" marL="0" rtl="0" algn="l">
              <a:spcBef>
                <a:spcPts val="1050"/>
              </a:spcBef>
              <a:spcAft>
                <a:spcPts val="0"/>
              </a:spcAft>
              <a:buNone/>
            </a:pPr>
            <a:r>
              <a:rPr lang="en" sz="750">
                <a:solidFill>
                  <a:srgbClr val="94A3B8"/>
                </a:solidFill>
                <a:latin typeface="Roboto"/>
                <a:ea typeface="Roboto"/>
                <a:cs typeface="Roboto"/>
                <a:sym typeface="Roboto"/>
              </a:rPr>
              <a:t>🌐 Frontend SPA</a:t>
            </a:r>
            <a:endParaRPr sz="750">
              <a:solidFill>
                <a:srgbClr val="94A3B8"/>
              </a:solidFill>
              <a:latin typeface="Roboto"/>
              <a:ea typeface="Roboto"/>
              <a:cs typeface="Roboto"/>
              <a:sym typeface="Roboto"/>
            </a:endParaRPr>
          </a:p>
          <a:p>
            <a:pPr indent="0" lvl="0" marL="0" rtl="0" algn="l">
              <a:spcBef>
                <a:spcPts val="150"/>
              </a:spcBef>
              <a:spcAft>
                <a:spcPts val="0"/>
              </a:spcAft>
              <a:buNone/>
            </a:pPr>
            <a:r>
              <a:rPr b="1" lang="en" sz="900">
                <a:solidFill>
                  <a:srgbClr val="38BDF8"/>
                </a:solidFill>
                <a:latin typeface="Courier New"/>
                <a:ea typeface="Courier New"/>
                <a:cs typeface="Courier New"/>
                <a:sym typeface="Courier New"/>
              </a:rPr>
              <a:t>http://localhost:8080</a:t>
            </a:r>
            <a:endParaRPr b="1" sz="900">
              <a:solidFill>
                <a:srgbClr val="38BDF8"/>
              </a:solidFill>
              <a:latin typeface="Courier New"/>
              <a:ea typeface="Courier New"/>
              <a:cs typeface="Courier New"/>
              <a:sym typeface="Courier New"/>
            </a:endParaRPr>
          </a:p>
          <a:p>
            <a:pPr indent="0" lvl="0" marL="0" rtl="0" algn="l">
              <a:spcBef>
                <a:spcPts val="900"/>
              </a:spcBef>
              <a:spcAft>
                <a:spcPts val="0"/>
              </a:spcAft>
              <a:buNone/>
            </a:pPr>
            <a:r>
              <a:rPr lang="en" sz="750">
                <a:solidFill>
                  <a:srgbClr val="94A3B8"/>
                </a:solidFill>
                <a:latin typeface="Roboto"/>
                <a:ea typeface="Roboto"/>
                <a:cs typeface="Roboto"/>
                <a:sym typeface="Roboto"/>
              </a:rPr>
              <a:t>⚙️ Backend API</a:t>
            </a:r>
            <a:endParaRPr sz="750">
              <a:solidFill>
                <a:srgbClr val="94A3B8"/>
              </a:solidFill>
              <a:latin typeface="Roboto"/>
              <a:ea typeface="Roboto"/>
              <a:cs typeface="Roboto"/>
              <a:sym typeface="Roboto"/>
            </a:endParaRPr>
          </a:p>
          <a:p>
            <a:pPr indent="0" lvl="0" marL="0" rtl="0" algn="l">
              <a:spcBef>
                <a:spcPts val="150"/>
              </a:spcBef>
              <a:spcAft>
                <a:spcPts val="0"/>
              </a:spcAft>
              <a:buNone/>
            </a:pPr>
            <a:r>
              <a:rPr b="1" lang="en" sz="900">
                <a:solidFill>
                  <a:srgbClr val="C084FC"/>
                </a:solidFill>
                <a:latin typeface="Courier New"/>
                <a:ea typeface="Courier New"/>
                <a:cs typeface="Courier New"/>
                <a:sym typeface="Courier New"/>
              </a:rPr>
              <a:t>http://localhost:5000/api</a:t>
            </a:r>
            <a:endParaRPr b="1" sz="900">
              <a:solidFill>
                <a:srgbClr val="C084FC"/>
              </a:solidFill>
              <a:latin typeface="Courier New"/>
              <a:ea typeface="Courier New"/>
              <a:cs typeface="Courier New"/>
              <a:sym typeface="Courier New"/>
            </a:endParaRPr>
          </a:p>
          <a:p>
            <a:pPr indent="0" lvl="0" marL="0" rtl="0" algn="l">
              <a:spcBef>
                <a:spcPts val="1050"/>
              </a:spcBef>
              <a:spcAft>
                <a:spcPts val="0"/>
              </a:spcAft>
              <a:buNone/>
            </a:pPr>
            <a:r>
              <a:rPr lang="en" sz="750">
                <a:solidFill>
                  <a:srgbClr val="64748B"/>
                </a:solidFill>
                <a:latin typeface="Courier New"/>
                <a:ea typeface="Courier New"/>
                <a:cs typeface="Courier New"/>
                <a:sym typeface="Courier New"/>
              </a:rPr>
              <a:t>STATUS: 200 OK — Ready for Live Demo</a:t>
            </a:r>
            <a:endParaRPr sz="750">
              <a:solidFill>
                <a:srgbClr val="64748B"/>
              </a:solidFill>
              <a:latin typeface="Courier New"/>
              <a:ea typeface="Courier New"/>
              <a:cs typeface="Courier New"/>
              <a:sym typeface="Courier New"/>
            </a:endParaRPr>
          </a:p>
        </p:txBody>
      </p:sp>
      <p:sp>
        <p:nvSpPr>
          <p:cNvPr id="174" name="Google Shape;174;p17"/>
          <p:cNvSpPr txBox="1"/>
          <p:nvPr/>
        </p:nvSpPr>
        <p:spPr>
          <a:xfrm>
            <a:off x="508000" y="4552950"/>
            <a:ext cx="4286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 sz="850">
                <a:solidFill>
                  <a:srgbClr val="64748B"/>
                </a:solidFill>
                <a:latin typeface="Roboto"/>
                <a:ea typeface="Roboto"/>
                <a:cs typeface="Roboto"/>
                <a:sym typeface="Roboto"/>
              </a:rPr>
              <a:t>Asignatura: Desarrollo de Aplicaciones Web (DAW-0423807T)</a:t>
            </a:r>
            <a:endParaRPr sz="850">
              <a:solidFill>
                <a:srgbClr val="64748B"/>
              </a:solidFill>
              <a:latin typeface="Roboto"/>
              <a:ea typeface="Roboto"/>
              <a:cs typeface="Roboto"/>
              <a:sym typeface="Roboto"/>
            </a:endParaRPr>
          </a:p>
        </p:txBody>
      </p:sp>
      <p:sp>
        <p:nvSpPr>
          <p:cNvPr id="175" name="Google Shape;175;p17"/>
          <p:cNvSpPr txBox="1"/>
          <p:nvPr/>
        </p:nvSpPr>
        <p:spPr>
          <a:xfrm>
            <a:off x="5524500" y="4552950"/>
            <a:ext cx="31242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lang="en" sz="850">
                <a:solidFill>
                  <a:srgbClr val="94A3B8"/>
                </a:solidFill>
                <a:latin typeface="Roboto"/>
                <a:ea typeface="Roboto"/>
                <a:cs typeface="Roboto"/>
                <a:sym typeface="Roboto"/>
              </a:rPr>
              <a:t>👨‍🏫 Facilitador: </a:t>
            </a:r>
            <a:r>
              <a:rPr b="1" lang="en" sz="850">
                <a:solidFill>
                  <a:srgbClr val="F1F5F9"/>
                </a:solidFill>
                <a:latin typeface="Roboto"/>
                <a:ea typeface="Roboto"/>
                <a:cs typeface="Roboto"/>
                <a:sym typeface="Roboto"/>
              </a:rPr>
              <a:t>M.Sc. Ing. Gabriel Alexis Ramírez Sánchez</a:t>
            </a:r>
            <a:endParaRPr sz="850">
              <a:solidFill>
                <a:srgbClr val="94A3B8"/>
              </a:solidFill>
              <a:latin typeface="Roboto"/>
              <a:ea typeface="Roboto"/>
              <a:cs typeface="Roboto"/>
              <a:sym typeface="Roboto"/>
            </a:endParaRPr>
          </a:p>
        </p:txBody>
      </p:sp>
      <p:pic>
        <p:nvPicPr>
          <p:cNvPr id="176" name="Google Shape;176;p17" title="unet-logo-dark.png"/>
          <p:cNvPicPr preferRelativeResize="0"/>
          <p:nvPr/>
        </p:nvPicPr>
        <p:blipFill>
          <a:blip r:embed="rId3">
            <a:alphaModFix/>
          </a:blip>
          <a:stretch>
            <a:fillRect/>
          </a:stretch>
        </p:blipFill>
        <p:spPr>
          <a:xfrm>
            <a:off x="167853" y="55100"/>
            <a:ext cx="585517" cy="8888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